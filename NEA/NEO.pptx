
<file path=[Content_Types].xml><?xml version="1.0" encoding="utf-8"?>
<Types xmlns="http://schemas.openxmlformats.org/package/2006/content-types">
  <Default Extension="gif" ContentType="video/unknown"/>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media/image34.gif" ContentType="image/gif"/>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2" r:id="rId1"/>
  </p:sldMasterIdLst>
  <p:notesMasterIdLst>
    <p:notesMasterId r:id="rId34"/>
  </p:notesMasterIdLst>
  <p:sldIdLst>
    <p:sldId id="256" r:id="rId2"/>
    <p:sldId id="295" r:id="rId3"/>
    <p:sldId id="264" r:id="rId4"/>
    <p:sldId id="296" r:id="rId5"/>
    <p:sldId id="268" r:id="rId6"/>
    <p:sldId id="266" r:id="rId7"/>
    <p:sldId id="297" r:id="rId8"/>
    <p:sldId id="300" r:id="rId9"/>
    <p:sldId id="267" r:id="rId10"/>
    <p:sldId id="270" r:id="rId11"/>
    <p:sldId id="271" r:id="rId12"/>
    <p:sldId id="272" r:id="rId13"/>
    <p:sldId id="273" r:id="rId14"/>
    <p:sldId id="274" r:id="rId15"/>
    <p:sldId id="289" r:id="rId16"/>
    <p:sldId id="284" r:id="rId17"/>
    <p:sldId id="291" r:id="rId18"/>
    <p:sldId id="298" r:id="rId19"/>
    <p:sldId id="299" r:id="rId20"/>
    <p:sldId id="290" r:id="rId21"/>
    <p:sldId id="292" r:id="rId22"/>
    <p:sldId id="277" r:id="rId23"/>
    <p:sldId id="278" r:id="rId24"/>
    <p:sldId id="279" r:id="rId25"/>
    <p:sldId id="280" r:id="rId26"/>
    <p:sldId id="294" r:id="rId27"/>
    <p:sldId id="293" r:id="rId28"/>
    <p:sldId id="281" r:id="rId29"/>
    <p:sldId id="282" r:id="rId30"/>
    <p:sldId id="285" r:id="rId31"/>
    <p:sldId id="286" r:id="rId32"/>
    <p:sldId id="287" r:id="rId3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75" autoAdjust="0"/>
    <p:restoredTop sz="91935" autoAdjust="0"/>
  </p:normalViewPr>
  <p:slideViewPr>
    <p:cSldViewPr snapToGrid="0" snapToObjects="1">
      <p:cViewPr varScale="1">
        <p:scale>
          <a:sx n="77" d="100"/>
          <a:sy n="77" d="100"/>
        </p:scale>
        <p:origin x="640" y="6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4" d="100"/>
        <a:sy n="154" d="100"/>
      </p:scale>
      <p:origin x="0" y="-1400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6E843C-C902-C845-A44E-5279EEF98B3F}" type="datetimeFigureOut">
              <a:rPr lang="it-IT" smtClean="0"/>
              <a:t>27/09/2019</a:t>
            </a:fld>
            <a:endParaRPr lang="it-IT"/>
          </a:p>
        </p:txBody>
      </p:sp>
      <p:sp>
        <p:nvSpPr>
          <p:cNvPr id="4" name="Segnaposto immagine diapositiva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78A974-BFAC-9342-AF05-710F546FC82E}" type="slidenum">
              <a:rPr lang="it-IT" smtClean="0"/>
              <a:t>‹N›</a:t>
            </a:fld>
            <a:endParaRPr lang="it-IT"/>
          </a:p>
        </p:txBody>
      </p:sp>
    </p:spTree>
    <p:extLst>
      <p:ext uri="{BB962C8B-B14F-4D97-AF65-F5344CB8AC3E}">
        <p14:creationId xmlns:p14="http://schemas.microsoft.com/office/powerpoint/2010/main" val="229912721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b="0"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1</a:t>
            </a:fld>
            <a:endParaRPr lang="it-IT"/>
          </a:p>
        </p:txBody>
      </p:sp>
    </p:spTree>
    <p:extLst>
      <p:ext uri="{BB962C8B-B14F-4D97-AF65-F5344CB8AC3E}">
        <p14:creationId xmlns:p14="http://schemas.microsoft.com/office/powerpoint/2010/main" val="2225615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b="0"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2</a:t>
            </a:fld>
            <a:endParaRPr lang="it-IT"/>
          </a:p>
        </p:txBody>
      </p:sp>
    </p:spTree>
    <p:extLst>
      <p:ext uri="{BB962C8B-B14F-4D97-AF65-F5344CB8AC3E}">
        <p14:creationId xmlns:p14="http://schemas.microsoft.com/office/powerpoint/2010/main" val="2181531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200" b="0" u="none" kern="1200" dirty="0">
                <a:solidFill>
                  <a:schemeClr val="tx1"/>
                </a:solidFill>
                <a:latin typeface="+mn-lt"/>
                <a:ea typeface="+mn-ea"/>
                <a:cs typeface="+mn-cs"/>
              </a:rPr>
              <a:t>Eros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word NEO stands for Near Earth Object, meaning a minor body of the solar system (or in other words a comet or an asteroid) which comes into the Earth neighborhood. </a:t>
            </a:r>
            <a:br>
              <a:rPr lang="en-US" dirty="0"/>
            </a:br>
            <a:r>
              <a:rPr lang="en-US" dirty="0"/>
              <a:t>A first classification of NEOs divides NEC (Near earth comets) from NEAs, Near Earth Asteroids. </a:t>
            </a:r>
            <a:br>
              <a:rPr lang="en-US" dirty="0"/>
            </a:br>
            <a:r>
              <a:rPr lang="en-US" dirty="0"/>
              <a:t>NEAs constitute the vast majority of NEOs and are further divided into three main families, depending on the features of their orbits. In particular they are classified in three groups (Amor, Apollo and </a:t>
            </a:r>
            <a:r>
              <a:rPr lang="en-US" dirty="0" err="1"/>
              <a:t>Atens</a:t>
            </a:r>
            <a:r>
              <a:rPr lang="en-US" dirty="0"/>
              <a:t>) according to their perihelion and aphelion distances and their semi major axes.</a:t>
            </a:r>
          </a:p>
          <a:p>
            <a:endParaRPr lang="it-IT" sz="1200" b="0" u="none" kern="1200" dirty="0">
              <a:solidFill>
                <a:schemeClr val="tx1"/>
              </a:solidFill>
              <a:latin typeface="+mn-lt"/>
              <a:ea typeface="+mn-ea"/>
              <a:cs typeface="+mn-cs"/>
            </a:endParaRPr>
          </a:p>
        </p:txBody>
      </p:sp>
      <p:sp>
        <p:nvSpPr>
          <p:cNvPr id="4" name="Segnaposto numero diapositiva 3"/>
          <p:cNvSpPr>
            <a:spLocks noGrp="1"/>
          </p:cNvSpPr>
          <p:nvPr>
            <p:ph type="sldNum" sz="quarter" idx="10"/>
          </p:nvPr>
        </p:nvSpPr>
        <p:spPr/>
        <p:txBody>
          <a:bodyPr/>
          <a:lstStyle/>
          <a:p>
            <a:fld id="{8D78A974-BFAC-9342-AF05-710F546FC82E}" type="slidenum">
              <a:rPr lang="it-IT" smtClean="0"/>
              <a:t>3</a:t>
            </a:fld>
            <a:endParaRPr lang="it-IT"/>
          </a:p>
        </p:txBody>
      </p:sp>
    </p:spTree>
    <p:extLst>
      <p:ext uri="{BB962C8B-B14F-4D97-AF65-F5344CB8AC3E}">
        <p14:creationId xmlns:p14="http://schemas.microsoft.com/office/powerpoint/2010/main" val="54457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200" b="0" u="none" kern="1200" dirty="0">
                <a:solidFill>
                  <a:schemeClr val="tx1"/>
                </a:solidFill>
                <a:latin typeface="+mn-lt"/>
                <a:ea typeface="+mn-ea"/>
                <a:cs typeface="+mn-cs"/>
              </a:rPr>
              <a:t>5:2 e 2:1 forzano l’attraversamento dell’orbita di Giove ed espulsi</a:t>
            </a:r>
          </a:p>
          <a:p>
            <a:r>
              <a:rPr lang="it-IT" sz="1200" b="0" u="none" kern="1200" dirty="0">
                <a:solidFill>
                  <a:schemeClr val="tx1"/>
                </a:solidFill>
                <a:latin typeface="+mn-lt"/>
                <a:ea typeface="+mn-ea"/>
                <a:cs typeface="+mn-cs"/>
              </a:rPr>
              <a:t>Aumenta l’eccentricità</a:t>
            </a:r>
          </a:p>
          <a:p>
            <a:r>
              <a:rPr lang="it-IT" sz="1200" b="0" u="none" kern="1200" dirty="0">
                <a:solidFill>
                  <a:schemeClr val="tx1"/>
                </a:solidFill>
                <a:latin typeface="+mn-lt"/>
                <a:ea typeface="+mn-ea"/>
                <a:cs typeface="+mn-cs"/>
              </a:rPr>
              <a:t>Risonanze di moto medio a 2.5 u.a. a 1/3. Oscilla o comportamento caotico</a:t>
            </a:r>
          </a:p>
          <a:p>
            <a:r>
              <a:rPr lang="it-IT" sz="1200" b="0" u="none" kern="1200" dirty="0">
                <a:solidFill>
                  <a:schemeClr val="tx1"/>
                </a:solidFill>
                <a:latin typeface="+mn-lt"/>
                <a:ea typeface="+mn-ea"/>
                <a:cs typeface="+mn-cs"/>
              </a:rPr>
              <a:t>Quelle </a:t>
            </a:r>
            <a:r>
              <a:rPr lang="it-IT" sz="1200" b="0" u="none" kern="1200" dirty="0" err="1">
                <a:solidFill>
                  <a:schemeClr val="tx1"/>
                </a:solidFill>
                <a:latin typeface="+mn-lt"/>
                <a:ea typeface="+mn-ea"/>
                <a:cs typeface="+mn-cs"/>
              </a:rPr>
              <a:t>transnettuniane</a:t>
            </a:r>
            <a:r>
              <a:rPr lang="it-IT" sz="1200" b="0" u="none" kern="1200" dirty="0">
                <a:solidFill>
                  <a:schemeClr val="tx1"/>
                </a:solidFill>
                <a:latin typeface="+mn-lt"/>
                <a:ea typeface="+mn-ea"/>
                <a:cs typeface="+mn-cs"/>
              </a:rPr>
              <a:t> sono instabili</a:t>
            </a:r>
          </a:p>
        </p:txBody>
      </p:sp>
      <p:sp>
        <p:nvSpPr>
          <p:cNvPr id="4" name="Segnaposto numero diapositiva 3"/>
          <p:cNvSpPr>
            <a:spLocks noGrp="1"/>
          </p:cNvSpPr>
          <p:nvPr>
            <p:ph type="sldNum" sz="quarter" idx="10"/>
          </p:nvPr>
        </p:nvSpPr>
        <p:spPr/>
        <p:txBody>
          <a:bodyPr/>
          <a:lstStyle/>
          <a:p>
            <a:fld id="{8D78A974-BFAC-9342-AF05-710F546FC82E}" type="slidenum">
              <a:rPr lang="it-IT" smtClean="0"/>
              <a:t>4</a:t>
            </a:fld>
            <a:endParaRPr lang="it-IT"/>
          </a:p>
        </p:txBody>
      </p:sp>
    </p:spTree>
    <p:extLst>
      <p:ext uri="{BB962C8B-B14F-4D97-AF65-F5344CB8AC3E}">
        <p14:creationId xmlns:p14="http://schemas.microsoft.com/office/powerpoint/2010/main" val="2250100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5</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r>
              <a:rPr lang="it-IT" dirty="0"/>
              <a:t>Dimensione invariata da allora</a:t>
            </a:r>
          </a:p>
        </p:txBody>
      </p:sp>
      <p:sp>
        <p:nvSpPr>
          <p:cNvPr id="4" name="Segnaposto numero diapositiva 3"/>
          <p:cNvSpPr>
            <a:spLocks noGrp="1"/>
          </p:cNvSpPr>
          <p:nvPr>
            <p:ph type="sldNum" sz="quarter" idx="10"/>
          </p:nvPr>
        </p:nvSpPr>
        <p:spPr/>
        <p:txBody>
          <a:bodyPr/>
          <a:lstStyle/>
          <a:p>
            <a:fld id="{8D78A974-BFAC-9342-AF05-710F546FC82E}" type="slidenum">
              <a:rPr lang="it-IT" smtClean="0"/>
              <a:t>6</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7</a:t>
            </a:fld>
            <a:endParaRPr lang="it-IT"/>
          </a:p>
        </p:txBody>
      </p:sp>
    </p:spTree>
    <p:extLst>
      <p:ext uri="{BB962C8B-B14F-4D97-AF65-F5344CB8AC3E}">
        <p14:creationId xmlns:p14="http://schemas.microsoft.com/office/powerpoint/2010/main" val="1225928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200" b="0" u="none" kern="1200" dirty="0">
                <a:solidFill>
                  <a:schemeClr val="tx1"/>
                </a:solidFill>
                <a:latin typeface="+mn-lt"/>
                <a:ea typeface="+mn-ea"/>
                <a:cs typeface="+mn-cs"/>
              </a:rPr>
              <a:t>Hanno le code</a:t>
            </a:r>
          </a:p>
        </p:txBody>
      </p:sp>
      <p:sp>
        <p:nvSpPr>
          <p:cNvPr id="4" name="Segnaposto numero diapositiva 3"/>
          <p:cNvSpPr>
            <a:spLocks noGrp="1"/>
          </p:cNvSpPr>
          <p:nvPr>
            <p:ph type="sldNum" sz="quarter" idx="10"/>
          </p:nvPr>
        </p:nvSpPr>
        <p:spPr/>
        <p:txBody>
          <a:bodyPr/>
          <a:lstStyle/>
          <a:p>
            <a:fld id="{8D78A974-BFAC-9342-AF05-710F546FC82E}" type="slidenum">
              <a:rPr lang="it-IT" smtClean="0"/>
              <a:t>8</a:t>
            </a:fld>
            <a:endParaRPr lang="it-IT"/>
          </a:p>
        </p:txBody>
      </p:sp>
    </p:spTree>
    <p:extLst>
      <p:ext uri="{BB962C8B-B14F-4D97-AF65-F5344CB8AC3E}">
        <p14:creationId xmlns:p14="http://schemas.microsoft.com/office/powerpoint/2010/main" val="4140341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9</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10</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r>
              <a:rPr lang="it-IT" dirty="0" err="1"/>
              <a:t>Paleoproterozoico</a:t>
            </a:r>
            <a:r>
              <a:rPr lang="it-IT" dirty="0"/>
              <a:t>, Cretaceo</a:t>
            </a:r>
          </a:p>
        </p:txBody>
      </p:sp>
      <p:sp>
        <p:nvSpPr>
          <p:cNvPr id="4" name="Segnaposto numero diapositiva 3"/>
          <p:cNvSpPr>
            <a:spLocks noGrp="1"/>
          </p:cNvSpPr>
          <p:nvPr>
            <p:ph type="sldNum" sz="quarter" idx="10"/>
          </p:nvPr>
        </p:nvSpPr>
        <p:spPr/>
        <p:txBody>
          <a:bodyPr/>
          <a:lstStyle/>
          <a:p>
            <a:fld id="{8D78A974-BFAC-9342-AF05-710F546FC82E}" type="slidenum">
              <a:rPr lang="it-IT" smtClean="0"/>
              <a:t>11</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r>
              <a:rPr lang="it-IT" dirty="0"/>
              <a:t>Eocene, Giurassico</a:t>
            </a:r>
          </a:p>
        </p:txBody>
      </p:sp>
      <p:sp>
        <p:nvSpPr>
          <p:cNvPr id="4" name="Segnaposto numero diapositiva 3"/>
          <p:cNvSpPr>
            <a:spLocks noGrp="1"/>
          </p:cNvSpPr>
          <p:nvPr>
            <p:ph type="sldNum" sz="quarter" idx="10"/>
          </p:nvPr>
        </p:nvSpPr>
        <p:spPr/>
        <p:txBody>
          <a:bodyPr/>
          <a:lstStyle/>
          <a:p>
            <a:fld id="{8D78A974-BFAC-9342-AF05-710F546FC82E}" type="slidenum">
              <a:rPr lang="it-IT" smtClean="0"/>
              <a:t>12</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13</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14</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r>
              <a:rPr lang="it-IT" dirty="0"/>
              <a:t>Ci sono anche gli IEO (Inner Earth Object)</a:t>
            </a:r>
          </a:p>
          <a:p>
            <a:r>
              <a:rPr lang="it-IT" dirty="0"/>
              <a:t>62% apollo</a:t>
            </a:r>
          </a:p>
          <a:p>
            <a:r>
              <a:rPr lang="it-IT" dirty="0"/>
              <a:t>6% </a:t>
            </a:r>
            <a:r>
              <a:rPr lang="it-IT" dirty="0" err="1"/>
              <a:t>aten</a:t>
            </a:r>
            <a:endParaRPr lang="it-IT" dirty="0"/>
          </a:p>
          <a:p>
            <a:r>
              <a:rPr lang="it-IT" dirty="0"/>
              <a:t>32% Amor</a:t>
            </a:r>
          </a:p>
        </p:txBody>
      </p:sp>
      <p:sp>
        <p:nvSpPr>
          <p:cNvPr id="4" name="Segnaposto numero diapositiva 3"/>
          <p:cNvSpPr>
            <a:spLocks noGrp="1"/>
          </p:cNvSpPr>
          <p:nvPr>
            <p:ph type="sldNum" sz="quarter" idx="10"/>
          </p:nvPr>
        </p:nvSpPr>
        <p:spPr/>
        <p:txBody>
          <a:bodyPr/>
          <a:lstStyle/>
          <a:p>
            <a:fld id="{8D78A974-BFAC-9342-AF05-710F546FC82E}" type="slidenum">
              <a:rPr lang="it-IT" smtClean="0"/>
              <a:t>15</a:t>
            </a:fld>
            <a:endParaRPr lang="it-IT"/>
          </a:p>
        </p:txBody>
      </p:sp>
    </p:spTree>
    <p:extLst>
      <p:ext uri="{BB962C8B-B14F-4D97-AF65-F5344CB8AC3E}">
        <p14:creationId xmlns:p14="http://schemas.microsoft.com/office/powerpoint/2010/main" val="2352282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16</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17</a:t>
            </a:fld>
            <a:endParaRPr lang="it-IT"/>
          </a:p>
        </p:txBody>
      </p:sp>
    </p:spTree>
    <p:extLst>
      <p:ext uri="{BB962C8B-B14F-4D97-AF65-F5344CB8AC3E}">
        <p14:creationId xmlns:p14="http://schemas.microsoft.com/office/powerpoint/2010/main" val="3329636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r>
              <a:rPr lang="it-IT" dirty="0"/>
              <a:t>PHA: 2000</a:t>
            </a:r>
          </a:p>
        </p:txBody>
      </p:sp>
      <p:sp>
        <p:nvSpPr>
          <p:cNvPr id="4" name="Segnaposto numero diapositiva 3"/>
          <p:cNvSpPr>
            <a:spLocks noGrp="1"/>
          </p:cNvSpPr>
          <p:nvPr>
            <p:ph type="sldNum" sz="quarter" idx="10"/>
          </p:nvPr>
        </p:nvSpPr>
        <p:spPr/>
        <p:txBody>
          <a:bodyPr/>
          <a:lstStyle/>
          <a:p>
            <a:fld id="{8D78A974-BFAC-9342-AF05-710F546FC82E}" type="slidenum">
              <a:rPr lang="it-IT" smtClean="0"/>
              <a:t>18</a:t>
            </a:fld>
            <a:endParaRPr lang="it-IT"/>
          </a:p>
        </p:txBody>
      </p:sp>
    </p:spTree>
    <p:extLst>
      <p:ext uri="{BB962C8B-B14F-4D97-AF65-F5344CB8AC3E}">
        <p14:creationId xmlns:p14="http://schemas.microsoft.com/office/powerpoint/2010/main" val="37692679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19</a:t>
            </a:fld>
            <a:endParaRPr lang="it-IT"/>
          </a:p>
        </p:txBody>
      </p:sp>
    </p:spTree>
    <p:extLst>
      <p:ext uri="{BB962C8B-B14F-4D97-AF65-F5344CB8AC3E}">
        <p14:creationId xmlns:p14="http://schemas.microsoft.com/office/powerpoint/2010/main" val="7911698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20</a:t>
            </a:fld>
            <a:endParaRPr lang="it-IT"/>
          </a:p>
        </p:txBody>
      </p:sp>
    </p:spTree>
    <p:extLst>
      <p:ext uri="{BB962C8B-B14F-4D97-AF65-F5344CB8AC3E}">
        <p14:creationId xmlns:p14="http://schemas.microsoft.com/office/powerpoint/2010/main" val="6537657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21</a:t>
            </a:fld>
            <a:endParaRPr lang="it-IT"/>
          </a:p>
        </p:txBody>
      </p:sp>
    </p:spTree>
    <p:extLst>
      <p:ext uri="{BB962C8B-B14F-4D97-AF65-F5344CB8AC3E}">
        <p14:creationId xmlns:p14="http://schemas.microsoft.com/office/powerpoint/2010/main" val="20288084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22</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23</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24</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25</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26</a:t>
            </a:fld>
            <a:endParaRPr lang="it-IT"/>
          </a:p>
        </p:txBody>
      </p:sp>
    </p:spTree>
    <p:extLst>
      <p:ext uri="{BB962C8B-B14F-4D97-AF65-F5344CB8AC3E}">
        <p14:creationId xmlns:p14="http://schemas.microsoft.com/office/powerpoint/2010/main" val="22131615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27</a:t>
            </a:fld>
            <a:endParaRPr lang="it-IT"/>
          </a:p>
        </p:txBody>
      </p:sp>
    </p:spTree>
    <p:extLst>
      <p:ext uri="{BB962C8B-B14F-4D97-AF65-F5344CB8AC3E}">
        <p14:creationId xmlns:p14="http://schemas.microsoft.com/office/powerpoint/2010/main" val="35273386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28</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29</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30</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31</a:t>
            </a:fld>
            <a:endParaRPr lang="it-IT"/>
          </a:p>
        </p:txBody>
      </p:sp>
    </p:spTree>
    <p:extLst>
      <p:ext uri="{BB962C8B-B14F-4D97-AF65-F5344CB8AC3E}">
        <p14:creationId xmlns:p14="http://schemas.microsoft.com/office/powerpoint/2010/main" val="10346017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8D78A974-BFAC-9342-AF05-710F546FC82E}" type="slidenum">
              <a:rPr lang="it-IT" smtClean="0"/>
              <a:t>32</a:t>
            </a:fld>
            <a:endParaRPr lang="it-IT"/>
          </a:p>
        </p:txBody>
      </p:sp>
    </p:spTree>
    <p:extLst>
      <p:ext uri="{BB962C8B-B14F-4D97-AF65-F5344CB8AC3E}">
        <p14:creationId xmlns:p14="http://schemas.microsoft.com/office/powerpoint/2010/main" val="1034601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DA47DADC-55EA-4839-91C8-5BCC0EC06F5C}" type="datetime1">
              <a:rPr lang="en-US" smtClean="0"/>
              <a:pPr/>
              <a:t>9/27/2019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eaLnBrk="1" latinLnBrk="0" hangingPunct="1"/>
            <a:fld id="{D2E57653-3E58-4892-A7ED-712530ACC680}" type="slidenum">
              <a:rPr kumimoji="0" lang="en-US" smtClean="0"/>
              <a:pPr eaLnBrk="1" latinLnBrk="0" hangingPunct="1"/>
              <a:t>‹N›</a:t>
            </a:fld>
            <a:endParaRPr kumimoji="0" lang="en-US"/>
          </a:p>
        </p:txBody>
      </p:sp>
    </p:spTree>
    <p:extLst>
      <p:ext uri="{BB962C8B-B14F-4D97-AF65-F5344CB8AC3E}">
        <p14:creationId xmlns:p14="http://schemas.microsoft.com/office/powerpoint/2010/main" val="72322433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3"/>
          <p:cNvSpPr>
            <a:spLocks noGrp="1"/>
          </p:cNvSpPr>
          <p:nvPr>
            <p:ph type="dt" sz="half" idx="10"/>
          </p:nvPr>
        </p:nvSpPr>
        <p:spPr/>
        <p:txBody>
          <a:bodyPr/>
          <a:lstStyle/>
          <a:p>
            <a:fld id="{DA47DADC-55EA-4839-91C8-5BCC0EC06F5C}" type="datetime1">
              <a:rPr lang="en-US" smtClean="0"/>
              <a:pPr/>
              <a:t>9/27/2019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13801451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DA47DADC-55EA-4839-91C8-5BCC0EC06F5C}" type="datetime1">
              <a:rPr lang="en-US" smtClean="0"/>
              <a:pPr/>
              <a:t>9/27/2019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265759417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DA47DADC-55EA-4839-91C8-5BCC0EC06F5C}" type="datetime1">
              <a:rPr lang="en-US" smtClean="0"/>
              <a:pPr/>
              <a:t>9/27/2019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178513977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DA47DADC-55EA-4839-91C8-5BCC0EC06F5C}" type="datetime1">
              <a:rPr lang="en-US" smtClean="0"/>
              <a:pPr/>
              <a:t>9/27/2019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20132344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fld id="{DA47DADC-55EA-4839-91C8-5BCC0EC06F5C}" type="datetime1">
              <a:rPr lang="en-US" smtClean="0"/>
              <a:pPr/>
              <a:t>9/27/2019</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187018857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A47DADC-55EA-4839-91C8-5BCC0EC06F5C}" type="datetime1">
              <a:rPr lang="en-US" smtClean="0"/>
              <a:pPr/>
              <a:t>9/27/2019</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327829220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fld id="{DA47DADC-55EA-4839-91C8-5BCC0EC06F5C}" type="datetime1">
              <a:rPr lang="en-US" smtClean="0"/>
              <a:pPr/>
              <a:t>9/27/2019</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379389304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DA47DADC-55EA-4839-91C8-5BCC0EC06F5C}" type="datetime1">
              <a:rPr lang="en-US" smtClean="0"/>
              <a:pPr/>
              <a:t>9/27/2019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351567576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DA47DADC-55EA-4839-91C8-5BCC0EC06F5C}" type="datetime1">
              <a:rPr lang="en-US" smtClean="0"/>
              <a:pPr/>
              <a:t>9/27/2019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5093296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DA47DADC-55EA-4839-91C8-5BCC0EC06F5C}" type="datetime1">
              <a:rPr lang="en-US" smtClean="0"/>
              <a:pPr/>
              <a:t>9/27/2019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32073727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it-IT"/>
              <a:t>Fare clic per modificare lo stile del titolo dello schema</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it-IT"/>
              <a:t>Fare clic per modificare gli stili del testo dello schema</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DA47DADC-55EA-4839-91C8-5BCC0EC06F5C}" type="datetime1">
              <a:rPr lang="en-US" smtClean="0"/>
              <a:pPr/>
              <a:t>9/27/2019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E8079A4-7AA8-4A4F-87E2-7781EC5097DD}" type="slidenum">
              <a:rPr lang="en-US" smtClean="0"/>
              <a:pPr/>
              <a:t>‹N›</a:t>
            </a:fld>
            <a:endParaRPr lang="en-US"/>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320846334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DA47DADC-55EA-4839-91C8-5BCC0EC06F5C}" type="datetime1">
              <a:rPr lang="en-US" smtClean="0"/>
              <a:pPr/>
              <a:t>9/27/2019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104931428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A47DADC-55EA-4839-91C8-5BCC0EC06F5C}" type="datetime1">
              <a:rPr lang="en-US" smtClean="0"/>
              <a:pPr/>
              <a:t>9/27/2019</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337917241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A47DADC-55EA-4839-91C8-5BCC0EC06F5C}" type="datetime1">
              <a:rPr lang="en-US" smtClean="0"/>
              <a:pPr/>
              <a:t>9/27/2019</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203848167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DA47DADC-55EA-4839-91C8-5BCC0EC06F5C}" type="datetime1">
              <a:rPr lang="en-US" smtClean="0"/>
              <a:pPr/>
              <a:t>9/27/2019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2962971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DA47DADC-55EA-4839-91C8-5BCC0EC06F5C}" type="datetime1">
              <a:rPr lang="en-US" smtClean="0"/>
              <a:pPr/>
              <a:t>9/27/2019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E8079A4-7AA8-4A4F-87E2-7781EC5097DD}" type="slidenum">
              <a:rPr lang="en-US" smtClean="0"/>
              <a:pPr/>
              <a:t>‹N›</a:t>
            </a:fld>
            <a:endParaRPr lang="en-US"/>
          </a:p>
        </p:txBody>
      </p:sp>
    </p:spTree>
    <p:extLst>
      <p:ext uri="{BB962C8B-B14F-4D97-AF65-F5344CB8AC3E}">
        <p14:creationId xmlns:p14="http://schemas.microsoft.com/office/powerpoint/2010/main" val="87920816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cstate="email">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0" cstate="email">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cstate="email">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2" cstate="email">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DA47DADC-55EA-4839-91C8-5BCC0EC06F5C}" type="datetime1">
              <a:rPr lang="en-US" smtClean="0"/>
              <a:pPr/>
              <a:t>9/27/2019</a:t>
            </a:fld>
            <a:endParaRPr lang="en-US" dirty="0"/>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CE8079A4-7AA8-4A4F-87E2-7781EC5097DD}" type="slidenum">
              <a:rPr lang="en-US" smtClean="0"/>
              <a:pPr/>
              <a:t>‹N›</a:t>
            </a:fld>
            <a:endParaRPr lang="en-US"/>
          </a:p>
        </p:txBody>
      </p:sp>
    </p:spTree>
    <p:extLst>
      <p:ext uri="{BB962C8B-B14F-4D97-AF65-F5344CB8AC3E}">
        <p14:creationId xmlns:p14="http://schemas.microsoft.com/office/powerpoint/2010/main" val="1664282652"/>
      </p:ext>
    </p:extLst>
  </p:cSld>
  <p:clrMap bg1="dk1" tx1="lt1" bg2="dk2" tx2="lt2" accent1="accent1" accent2="accent2" accent3="accent3" accent4="accent4" accent5="accent5" accent6="accent6" hlink="hlink" folHlink="folHlink"/>
  <p:sldLayoutIdLst>
    <p:sldLayoutId id="2147483933" r:id="rId1"/>
    <p:sldLayoutId id="2147483934" r:id="rId2"/>
    <p:sldLayoutId id="2147483935" r:id="rId3"/>
    <p:sldLayoutId id="2147483936" r:id="rId4"/>
    <p:sldLayoutId id="2147483937" r:id="rId5"/>
    <p:sldLayoutId id="2147483938" r:id="rId6"/>
    <p:sldLayoutId id="2147483939" r:id="rId7"/>
    <p:sldLayoutId id="2147483940" r:id="rId8"/>
    <p:sldLayoutId id="2147483941" r:id="rId9"/>
    <p:sldLayoutId id="2147483942" r:id="rId10"/>
    <p:sldLayoutId id="2147483943" r:id="rId11"/>
    <p:sldLayoutId id="2147483944" r:id="rId12"/>
    <p:sldLayoutId id="2147483945" r:id="rId13"/>
    <p:sldLayoutId id="2147483946" r:id="rId14"/>
    <p:sldLayoutId id="2147483947" r:id="rId15"/>
    <p:sldLayoutId id="2147483948" r:id="rId16"/>
    <p:sldLayoutId id="2147483949" r:id="rId17"/>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gav.altervista.org"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hyperlink" Target="http://neo.ssa.esa.int/comet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5.jpg"/><Relationship Id="rId2" Type="http://schemas.openxmlformats.org/officeDocument/2006/relationships/video" Target="../media/media1.gif"/><Relationship Id="rId1" Type="http://schemas.microsoft.com/office/2007/relationships/media" Target="../media/media1.gif"/><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cneos.jpl.nasa.gov/stats/size.ht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hyperlink" Target="https://cneos.jpl.nasa.gov/tools/ast_size_est.html" TargetMode="Externa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www.jpl.nasa.gov/spaceimages/details.php?id=PIA17041"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cneos.jpl.nasa.gov/stats/totals.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magine 8" descr="tv test.png">
            <a:extLst>
              <a:ext uri="{FF2B5EF4-FFF2-40B4-BE49-F238E27FC236}">
                <a16:creationId xmlns:a16="http://schemas.microsoft.com/office/drawing/2014/main" id="{408D4C4D-80E4-4079-82FE-165D50895BA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Tree>
    <p:extLst>
      <p:ext uri="{BB962C8B-B14F-4D97-AF65-F5344CB8AC3E}">
        <p14:creationId xmlns:p14="http://schemas.microsoft.com/office/powerpoint/2010/main" val="1721741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magine 9">
            <a:extLst>
              <a:ext uri="{FF2B5EF4-FFF2-40B4-BE49-F238E27FC236}">
                <a16:creationId xmlns:a16="http://schemas.microsoft.com/office/drawing/2014/main" id="{A7127F5B-B0D9-46F1-97A6-7DE9F0D17E4D}"/>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1166"/>
            <a:ext cx="9144000" cy="5141167"/>
          </a:xfrm>
          <a:prstGeom prst="rect">
            <a:avLst/>
          </a:prstGeom>
        </p:spPr>
      </p:pic>
      <p:sp>
        <p:nvSpPr>
          <p:cNvPr id="2" name="Titolo 1"/>
          <p:cNvSpPr>
            <a:spLocks noGrp="1"/>
          </p:cNvSpPr>
          <p:nvPr>
            <p:ph type="ctrTitle"/>
          </p:nvPr>
        </p:nvSpPr>
        <p:spPr>
          <a:xfrm>
            <a:off x="5464879" y="1813788"/>
            <a:ext cx="3516301" cy="505590"/>
          </a:xfrm>
        </p:spPr>
        <p:txBody>
          <a:bodyPr>
            <a:noAutofit/>
          </a:bodyPr>
          <a:lstStyle/>
          <a:p>
            <a:pPr algn="r"/>
            <a:r>
              <a:rPr lang="it-IT" sz="3600" i="1" dirty="0">
                <a:solidFill>
                  <a:schemeClr val="tx1"/>
                </a:solidFill>
              </a:rPr>
              <a:t>NEO e dintorni</a:t>
            </a:r>
          </a:p>
        </p:txBody>
      </p:sp>
      <p:sp>
        <p:nvSpPr>
          <p:cNvPr id="4" name="Sottotitolo 2"/>
          <p:cNvSpPr txBox="1">
            <a:spLocks/>
          </p:cNvSpPr>
          <p:nvPr/>
        </p:nvSpPr>
        <p:spPr>
          <a:xfrm>
            <a:off x="5967167" y="3968684"/>
            <a:ext cx="3021272" cy="1013245"/>
          </a:xfrm>
          <a:prstGeom prst="rect">
            <a:avLst/>
          </a:prstGeom>
        </p:spPr>
        <p:txBody>
          <a:bodyPr vert="horz" lIns="91440" tIns="45720" rIns="91440" bIns="45720" rtlCol="0">
            <a:normAutofit/>
          </a:bodyPr>
          <a:lstStyle>
            <a:lvl1pPr marL="0" indent="0" algn="l" defTabSz="914400" rtl="0" eaLnBrk="1" latinLnBrk="0" hangingPunct="1">
              <a:spcBef>
                <a:spcPct val="20000"/>
              </a:spcBef>
              <a:buClr>
                <a:schemeClr val="tx2"/>
              </a:buClr>
              <a:buFont typeface="Wingdings" charset="2"/>
              <a:buNone/>
              <a:defRPr sz="2200" kern="1200">
                <a:solidFill>
                  <a:schemeClr val="tx1"/>
                </a:solidFill>
                <a:latin typeface="+mn-lt"/>
                <a:ea typeface="+mn-ea"/>
                <a:cs typeface="+mn-cs"/>
              </a:defRPr>
            </a:lvl1pPr>
            <a:lvl2pPr marL="457200" indent="0" algn="ctr" defTabSz="914400" rtl="0" eaLnBrk="1" latinLnBrk="0" hangingPunct="1">
              <a:spcBef>
                <a:spcPct val="20000"/>
              </a:spcBef>
              <a:buClr>
                <a:schemeClr val="tx2"/>
              </a:buClr>
              <a:buFont typeface="Wingdings" charset="2"/>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tx2"/>
              </a:buClr>
              <a:buFont typeface="Wingdings"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tx2"/>
              </a:buClr>
              <a:buFont typeface="Wingdings" charset="2"/>
              <a:buNone/>
              <a:defRPr sz="14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tx2"/>
              </a:buClr>
              <a:buFont typeface="Wingdings" charset="2"/>
              <a:buNone/>
              <a:defRPr sz="14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tx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2"/>
              </a:buClr>
              <a:buFont typeface="Wingdings" pitchFamily="2" charset="2"/>
              <a:buNone/>
              <a:defRPr sz="1400" kern="1200">
                <a:solidFill>
                  <a:schemeClr val="tx1">
                    <a:tint val="75000"/>
                  </a:schemeClr>
                </a:solidFill>
                <a:latin typeface="+mn-lt"/>
                <a:ea typeface="+mn-ea"/>
                <a:cs typeface="+mn-cs"/>
              </a:defRPr>
            </a:lvl9pPr>
          </a:lstStyle>
          <a:p>
            <a:pPr algn="r"/>
            <a:r>
              <a:rPr lang="it-IT" sz="1200" i="1" dirty="0">
                <a:solidFill>
                  <a:srgbClr val="FFFF00"/>
                </a:solidFill>
              </a:rPr>
              <a:t>Alessandro Fumagalli</a:t>
            </a:r>
          </a:p>
          <a:p>
            <a:pPr algn="r"/>
            <a:r>
              <a:rPr lang="it-IT" sz="1200" i="1" dirty="0">
                <a:solidFill>
                  <a:srgbClr val="FFFF00"/>
                </a:solidFill>
              </a:rPr>
              <a:t> GAV – Gruppo Astrofili Villasanta</a:t>
            </a:r>
          </a:p>
          <a:p>
            <a:pPr algn="r"/>
            <a:r>
              <a:rPr lang="it-IT" sz="1200" i="1" dirty="0">
                <a:solidFill>
                  <a:srgbClr val="FFFF00"/>
                </a:solidFill>
              </a:rPr>
              <a:t>Via Bestetti 8, 20852 Villasanta (MB)</a:t>
            </a:r>
          </a:p>
          <a:p>
            <a:pPr algn="r"/>
            <a:r>
              <a:rPr lang="it-IT" sz="1200" i="1" dirty="0">
                <a:solidFill>
                  <a:srgbClr val="FFFF00"/>
                </a:solidFill>
                <a:hlinkClick r:id="rId4">
                  <a:extLst>
                    <a:ext uri="{A12FA001-AC4F-418D-AE19-62706E023703}">
                      <ahyp:hlinkClr xmlns:ahyp="http://schemas.microsoft.com/office/drawing/2018/hyperlinkcolor" val="tx"/>
                    </a:ext>
                  </a:extLst>
                </a:hlinkClick>
              </a:rPr>
              <a:t>http://gav.altervista.org</a:t>
            </a:r>
            <a:endParaRPr lang="it-IT" sz="1200" i="1" dirty="0">
              <a:solidFill>
                <a:srgbClr val="FFFF00"/>
              </a:solidFill>
            </a:endParaRPr>
          </a:p>
        </p:txBody>
      </p:sp>
    </p:spTree>
    <p:extLst>
      <p:ext uri="{BB962C8B-B14F-4D97-AF65-F5344CB8AC3E}">
        <p14:creationId xmlns:p14="http://schemas.microsoft.com/office/powerpoint/2010/main" val="3553930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 y="48203"/>
            <a:ext cx="9143999" cy="726714"/>
          </a:xfrm>
        </p:spPr>
        <p:txBody>
          <a:bodyPr>
            <a:normAutofit/>
          </a:bodyPr>
          <a:lstStyle/>
          <a:p>
            <a:pPr algn="ctr"/>
            <a:r>
              <a:rPr lang="it-IT" sz="3200" b="1" dirty="0" err="1">
                <a:solidFill>
                  <a:srgbClr val="FFFF00"/>
                </a:solidFill>
              </a:rPr>
              <a:t>Near</a:t>
            </a:r>
            <a:r>
              <a:rPr lang="it-IT" sz="3200" b="1" dirty="0">
                <a:solidFill>
                  <a:srgbClr val="FFFF00"/>
                </a:solidFill>
              </a:rPr>
              <a:t> Earth Object</a:t>
            </a:r>
            <a:endParaRPr lang="it-IT" dirty="0">
              <a:solidFill>
                <a:srgbClr val="FFFF00"/>
              </a:solidFill>
            </a:endParaRPr>
          </a:p>
        </p:txBody>
      </p:sp>
      <p:sp>
        <p:nvSpPr>
          <p:cNvPr id="7" name="Segnaposto contenuto 2"/>
          <p:cNvSpPr>
            <a:spLocks noGrp="1"/>
          </p:cNvSpPr>
          <p:nvPr>
            <p:ph idx="1"/>
          </p:nvPr>
        </p:nvSpPr>
        <p:spPr>
          <a:xfrm>
            <a:off x="179110" y="758760"/>
            <a:ext cx="8823488" cy="807673"/>
          </a:xfrm>
        </p:spPr>
        <p:txBody>
          <a:bodyPr>
            <a:noAutofit/>
          </a:bodyPr>
          <a:lstStyle/>
          <a:p>
            <a:pPr marL="0" indent="0">
              <a:buNone/>
            </a:pPr>
            <a:r>
              <a:rPr lang="it-IT" sz="2000" dirty="0"/>
              <a:t>Sono oggetti naturali o artificiali con afelio ≤ 1.3 u.a. e perielio ≥ 0.983 u.a. che possono avvicinarsi all’orbita terrestre </a:t>
            </a:r>
          </a:p>
        </p:txBody>
      </p:sp>
      <p:sp>
        <p:nvSpPr>
          <p:cNvPr id="3" name="Rettangolo 2">
            <a:extLst>
              <a:ext uri="{FF2B5EF4-FFF2-40B4-BE49-F238E27FC236}">
                <a16:creationId xmlns:a16="http://schemas.microsoft.com/office/drawing/2014/main" id="{DCE455C2-2D3F-4510-834A-E572835AFF1E}"/>
              </a:ext>
            </a:extLst>
          </p:cNvPr>
          <p:cNvSpPr/>
          <p:nvPr/>
        </p:nvSpPr>
        <p:spPr>
          <a:xfrm>
            <a:off x="228701" y="1794527"/>
            <a:ext cx="8686594" cy="923330"/>
          </a:xfrm>
          <a:prstGeom prst="rect">
            <a:avLst/>
          </a:prstGeom>
        </p:spPr>
        <p:txBody>
          <a:bodyPr wrap="square">
            <a:spAutoFit/>
          </a:bodyPr>
          <a:lstStyle/>
          <a:p>
            <a:r>
              <a:rPr lang="it-IT" dirty="0"/>
              <a:t>Le loro orbite sono il risultato di continue "spinte" dovute all'attrazione gravitazionale dei pianeti vicini che li portano nei pressi dell’orbita della Terra</a:t>
            </a:r>
          </a:p>
        </p:txBody>
      </p:sp>
      <p:sp>
        <p:nvSpPr>
          <p:cNvPr id="10" name="Rettangolo 9">
            <a:extLst>
              <a:ext uri="{FF2B5EF4-FFF2-40B4-BE49-F238E27FC236}">
                <a16:creationId xmlns:a16="http://schemas.microsoft.com/office/drawing/2014/main" id="{EF0326C4-18EE-4B58-8F2C-D95782F86BA4}"/>
              </a:ext>
            </a:extLst>
          </p:cNvPr>
          <p:cNvSpPr/>
          <p:nvPr/>
        </p:nvSpPr>
        <p:spPr>
          <a:xfrm>
            <a:off x="1610342" y="2814077"/>
            <a:ext cx="6293254" cy="2031325"/>
          </a:xfrm>
          <a:prstGeom prst="rect">
            <a:avLst/>
          </a:prstGeom>
        </p:spPr>
        <p:txBody>
          <a:bodyPr wrap="square">
            <a:spAutoFit/>
          </a:bodyPr>
          <a:lstStyle/>
          <a:p>
            <a:r>
              <a:rPr lang="it-IT" dirty="0"/>
              <a:t>Includono:</a:t>
            </a:r>
          </a:p>
          <a:p>
            <a:endParaRPr lang="it-IT" dirty="0"/>
          </a:p>
          <a:p>
            <a:pPr marL="285750" indent="-285750">
              <a:buFont typeface="Arial" panose="020B0604020202020204" pitchFamily="34" charset="0"/>
              <a:buChar char="•"/>
            </a:pPr>
            <a:r>
              <a:rPr lang="it-IT" dirty="0">
                <a:solidFill>
                  <a:srgbClr val="FFFF00"/>
                </a:solidFill>
              </a:rPr>
              <a:t>NEA</a:t>
            </a:r>
            <a:r>
              <a:rPr lang="it-IT" dirty="0"/>
              <a:t> (</a:t>
            </a:r>
            <a:r>
              <a:rPr lang="it-IT" dirty="0" err="1"/>
              <a:t>Near</a:t>
            </a:r>
            <a:r>
              <a:rPr lang="it-IT" dirty="0"/>
              <a:t> Earth </a:t>
            </a:r>
            <a:r>
              <a:rPr lang="it-IT" dirty="0" err="1"/>
              <a:t>Asteroid</a:t>
            </a:r>
            <a:r>
              <a:rPr lang="it-IT" dirty="0"/>
              <a:t>)</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a:t>Nuclei cometari, comete di lungo e breve periodo</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a:t>… ed eventualmente detriti spaziali</a:t>
            </a:r>
          </a:p>
        </p:txBody>
      </p:sp>
    </p:spTree>
    <p:extLst>
      <p:ext uri="{BB962C8B-B14F-4D97-AF65-F5344CB8AC3E}">
        <p14:creationId xmlns:p14="http://schemas.microsoft.com/office/powerpoint/2010/main" val="3449177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 y="48203"/>
            <a:ext cx="9143999" cy="726714"/>
          </a:xfrm>
        </p:spPr>
        <p:txBody>
          <a:bodyPr>
            <a:normAutofit/>
          </a:bodyPr>
          <a:lstStyle/>
          <a:p>
            <a:pPr algn="ctr"/>
            <a:r>
              <a:rPr lang="it-IT" sz="3200" b="1" dirty="0" err="1">
                <a:solidFill>
                  <a:srgbClr val="FFFF00"/>
                </a:solidFill>
              </a:rPr>
              <a:t>Near</a:t>
            </a:r>
            <a:r>
              <a:rPr lang="it-IT" sz="3200" b="1" dirty="0">
                <a:solidFill>
                  <a:srgbClr val="FFFF00"/>
                </a:solidFill>
              </a:rPr>
              <a:t> Earth </a:t>
            </a:r>
            <a:r>
              <a:rPr lang="it-IT" sz="3200" b="1" dirty="0" err="1">
                <a:solidFill>
                  <a:srgbClr val="FFFF00"/>
                </a:solidFill>
              </a:rPr>
              <a:t>Asteroid</a:t>
            </a:r>
            <a:endParaRPr lang="it-IT" dirty="0">
              <a:solidFill>
                <a:srgbClr val="FFFF00"/>
              </a:solidFill>
            </a:endParaRPr>
          </a:p>
        </p:txBody>
      </p:sp>
      <p:sp>
        <p:nvSpPr>
          <p:cNvPr id="7" name="Segnaposto contenuto 2"/>
          <p:cNvSpPr>
            <a:spLocks noGrp="1"/>
          </p:cNvSpPr>
          <p:nvPr>
            <p:ph idx="1"/>
          </p:nvPr>
        </p:nvSpPr>
        <p:spPr>
          <a:xfrm>
            <a:off x="179110" y="758760"/>
            <a:ext cx="8823488" cy="505497"/>
          </a:xfrm>
        </p:spPr>
        <p:txBody>
          <a:bodyPr>
            <a:noAutofit/>
          </a:bodyPr>
          <a:lstStyle/>
          <a:p>
            <a:pPr marL="0" indent="0">
              <a:buNone/>
            </a:pPr>
            <a:r>
              <a:rPr lang="it-IT" sz="2200" dirty="0">
                <a:solidFill>
                  <a:srgbClr val="FF0000"/>
                </a:solidFill>
              </a:rPr>
              <a:t>433 Eros</a:t>
            </a:r>
            <a:r>
              <a:rPr lang="it-IT" sz="2200" dirty="0"/>
              <a:t>: primo NEA scoperto nel 1898</a:t>
            </a:r>
          </a:p>
        </p:txBody>
      </p:sp>
      <p:sp>
        <p:nvSpPr>
          <p:cNvPr id="3" name="Rettangolo 2">
            <a:extLst>
              <a:ext uri="{FF2B5EF4-FFF2-40B4-BE49-F238E27FC236}">
                <a16:creationId xmlns:a16="http://schemas.microsoft.com/office/drawing/2014/main" id="{DCE455C2-2D3F-4510-834A-E572835AFF1E}"/>
              </a:ext>
            </a:extLst>
          </p:cNvPr>
          <p:cNvSpPr/>
          <p:nvPr/>
        </p:nvSpPr>
        <p:spPr>
          <a:xfrm>
            <a:off x="316004" y="1374380"/>
            <a:ext cx="8561989" cy="2062103"/>
          </a:xfrm>
          <a:prstGeom prst="rect">
            <a:avLst/>
          </a:prstGeom>
        </p:spPr>
        <p:txBody>
          <a:bodyPr wrap="square">
            <a:spAutoFit/>
          </a:bodyPr>
          <a:lstStyle/>
          <a:p>
            <a:r>
              <a:rPr lang="it-IT" sz="1600" dirty="0"/>
              <a:t>Provengono da:</a:t>
            </a:r>
          </a:p>
          <a:p>
            <a:endParaRPr lang="it-IT" sz="1600" dirty="0"/>
          </a:p>
          <a:p>
            <a:pPr marL="285750" indent="-285750">
              <a:buFont typeface="Arial" panose="020B0604020202020204" pitchFamily="34" charset="0"/>
              <a:buChar char="•"/>
            </a:pPr>
            <a:r>
              <a:rPr lang="it-IT" sz="1600" dirty="0">
                <a:solidFill>
                  <a:srgbClr val="FFFF00"/>
                </a:solidFill>
              </a:rPr>
              <a:t>Fascia degli asteroidi</a:t>
            </a:r>
            <a:r>
              <a:rPr lang="it-IT" sz="1600" dirty="0"/>
              <a:t>: regione fra Marte e Giove</a:t>
            </a:r>
            <a:endParaRPr lang="it-IT" sz="1600" dirty="0">
              <a:solidFill>
                <a:srgbClr val="FFFF00"/>
              </a:solidFill>
            </a:endParaRPr>
          </a:p>
          <a:p>
            <a:pPr marL="285750" indent="-285750">
              <a:buFont typeface="Arial" panose="020B0604020202020204" pitchFamily="34" charset="0"/>
              <a:buChar char="•"/>
            </a:pPr>
            <a:endParaRPr lang="it-IT" sz="1600" dirty="0"/>
          </a:p>
          <a:p>
            <a:pPr marL="285750" indent="-285750">
              <a:buFont typeface="Arial" panose="020B0604020202020204" pitchFamily="34" charset="0"/>
              <a:buChar char="•"/>
            </a:pPr>
            <a:r>
              <a:rPr lang="it-IT" sz="1600" dirty="0">
                <a:solidFill>
                  <a:srgbClr val="FFFF00"/>
                </a:solidFill>
              </a:rPr>
              <a:t>Comete provenienti dalla fascia di </a:t>
            </a:r>
            <a:r>
              <a:rPr lang="it-IT" sz="1600" dirty="0" err="1">
                <a:solidFill>
                  <a:srgbClr val="FFFF00"/>
                </a:solidFill>
              </a:rPr>
              <a:t>Kuiper</a:t>
            </a:r>
            <a:r>
              <a:rPr lang="it-IT" sz="1600" dirty="0">
                <a:solidFill>
                  <a:srgbClr val="FFFF00"/>
                </a:solidFill>
              </a:rPr>
              <a:t> (NEC)</a:t>
            </a:r>
            <a:r>
              <a:rPr lang="it-IT" sz="1600" dirty="0"/>
              <a:t>: regione situata sul piano di giacitura del S.S. </a:t>
            </a:r>
          </a:p>
          <a:p>
            <a:pPr marL="285750" indent="-285750">
              <a:buFont typeface="Arial" panose="020B0604020202020204" pitchFamily="34" charset="0"/>
              <a:buChar char="•"/>
            </a:pPr>
            <a:endParaRPr lang="it-IT" sz="1600" dirty="0"/>
          </a:p>
          <a:p>
            <a:pPr marL="285750" indent="-285750">
              <a:buFont typeface="Arial" panose="020B0604020202020204" pitchFamily="34" charset="0"/>
              <a:buChar char="•"/>
            </a:pPr>
            <a:r>
              <a:rPr lang="it-IT" sz="1600" dirty="0">
                <a:solidFill>
                  <a:srgbClr val="FFFF00"/>
                </a:solidFill>
              </a:rPr>
              <a:t>Comete provenienti dalla Nube di </a:t>
            </a:r>
            <a:r>
              <a:rPr lang="it-IT" sz="1600" dirty="0" err="1">
                <a:solidFill>
                  <a:srgbClr val="FFFF00"/>
                </a:solidFill>
              </a:rPr>
              <a:t>Oort</a:t>
            </a:r>
            <a:r>
              <a:rPr lang="it-IT" sz="1600" dirty="0"/>
              <a:t>: provengono da ogni direzione</a:t>
            </a:r>
          </a:p>
        </p:txBody>
      </p:sp>
      <p:sp>
        <p:nvSpPr>
          <p:cNvPr id="10" name="Rettangolo 9">
            <a:extLst>
              <a:ext uri="{FF2B5EF4-FFF2-40B4-BE49-F238E27FC236}">
                <a16:creationId xmlns:a16="http://schemas.microsoft.com/office/drawing/2014/main" id="{EF0326C4-18EE-4B58-8F2C-D95782F86BA4}"/>
              </a:ext>
            </a:extLst>
          </p:cNvPr>
          <p:cNvSpPr/>
          <p:nvPr/>
        </p:nvSpPr>
        <p:spPr>
          <a:xfrm>
            <a:off x="310101" y="3528916"/>
            <a:ext cx="8485924" cy="1323439"/>
          </a:xfrm>
          <a:prstGeom prst="rect">
            <a:avLst/>
          </a:prstGeom>
        </p:spPr>
        <p:txBody>
          <a:bodyPr wrap="square">
            <a:spAutoFit/>
          </a:bodyPr>
          <a:lstStyle/>
          <a:p>
            <a:pPr marL="285750" indent="-285750">
              <a:buFont typeface="Arial" panose="020B0604020202020204" pitchFamily="34" charset="0"/>
              <a:buChar char="•"/>
            </a:pPr>
            <a:r>
              <a:rPr lang="it-IT" sz="1600" dirty="0"/>
              <a:t>Effetti di risonanza modificano le orbite di questi oggetti:</a:t>
            </a:r>
          </a:p>
          <a:p>
            <a:endParaRPr lang="it-IT" sz="1600" dirty="0"/>
          </a:p>
          <a:p>
            <a:pPr marL="800100" lvl="1" indent="-342900">
              <a:buFont typeface="+mj-lt"/>
              <a:buAutoNum type="arabicPeriod"/>
            </a:pPr>
            <a:r>
              <a:rPr lang="it-IT" sz="1600" dirty="0"/>
              <a:t>Precessione del perielio (risonanze secolari)</a:t>
            </a:r>
          </a:p>
          <a:p>
            <a:pPr marL="800100" lvl="1" indent="-342900">
              <a:buFont typeface="+mj-lt"/>
              <a:buAutoNum type="arabicPeriod"/>
            </a:pPr>
            <a:endParaRPr lang="it-IT" sz="1600" dirty="0"/>
          </a:p>
          <a:p>
            <a:pPr marL="800100" lvl="1" indent="-342900">
              <a:buFont typeface="+mj-lt"/>
              <a:buAutoNum type="arabicPeriod"/>
            </a:pPr>
            <a:r>
              <a:rPr lang="it-IT" sz="1600" dirty="0"/>
              <a:t>Risonanze instabili (lacuna di </a:t>
            </a:r>
            <a:r>
              <a:rPr lang="it-IT" sz="1600" dirty="0" err="1">
                <a:solidFill>
                  <a:srgbClr val="FFFF00"/>
                </a:solidFill>
              </a:rPr>
              <a:t>Kirkwood</a:t>
            </a:r>
            <a:r>
              <a:rPr lang="it-IT" sz="1600" dirty="0"/>
              <a:t>)</a:t>
            </a:r>
          </a:p>
        </p:txBody>
      </p:sp>
    </p:spTree>
    <p:extLst>
      <p:ext uri="{BB962C8B-B14F-4D97-AF65-F5344CB8AC3E}">
        <p14:creationId xmlns:p14="http://schemas.microsoft.com/office/powerpoint/2010/main" val="3081100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extLst/>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B89E5C5-A037-45B3-9D37-3658914D47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cstate="email">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6" name="Picture 15">
            <a:extLst>
              <a:ext uri="{FF2B5EF4-FFF2-40B4-BE49-F238E27FC236}">
                <a16:creationId xmlns:a16="http://schemas.microsoft.com/office/drawing/2014/main" id="{5ACB93B0-521E-443D-9750-AFCFDDB3E8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cstate="email">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8" name="Oval 17">
            <a:extLst>
              <a:ext uri="{FF2B5EF4-FFF2-40B4-BE49-F238E27FC236}">
                <a16:creationId xmlns:a16="http://schemas.microsoft.com/office/drawing/2014/main" id="{DA1DAC79-DDBA-4382-9D43-6E5F685BE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408"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20" name="Picture 19">
            <a:extLst>
              <a:ext uri="{FF2B5EF4-FFF2-40B4-BE49-F238E27FC236}">
                <a16:creationId xmlns:a16="http://schemas.microsoft.com/office/drawing/2014/main" id="{E0880F10-995F-4F01-A83B-7ECDB7BE79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cstate="email">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22" name="Picture 21">
            <a:extLst>
              <a:ext uri="{FF2B5EF4-FFF2-40B4-BE49-F238E27FC236}">
                <a16:creationId xmlns:a16="http://schemas.microsoft.com/office/drawing/2014/main" id="{A2D49266-1F08-40F2-B0E1-1D919DCB57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cstate="email">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4" name="Rectangle 23">
            <a:extLst>
              <a:ext uri="{FF2B5EF4-FFF2-40B4-BE49-F238E27FC236}">
                <a16:creationId xmlns:a16="http://schemas.microsoft.com/office/drawing/2014/main" id="{6AACA73D-178F-4CFC-99E3-9F4FCBBD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7B0A5210-2F29-4D85-A400-9C79B13FC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27">
            <a:extLst>
              <a:ext uri="{FF2B5EF4-FFF2-40B4-BE49-F238E27FC236}">
                <a16:creationId xmlns:a16="http://schemas.microsoft.com/office/drawing/2014/main" id="{B0611BBE-2B4A-4DA2-B8A9-CD877B876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360045"/>
            <a:ext cx="8428482" cy="4423410"/>
          </a:xfrm>
          <a:prstGeom prst="rect">
            <a:avLst/>
          </a:prstGeom>
          <a:noFill/>
          <a:ln w="222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magine 8">
            <a:extLst>
              <a:ext uri="{FF2B5EF4-FFF2-40B4-BE49-F238E27FC236}">
                <a16:creationId xmlns:a16="http://schemas.microsoft.com/office/drawing/2014/main" id="{E5F93184-EF62-448D-B25F-AC43F334CC7B}"/>
              </a:ext>
            </a:extLst>
          </p:cNvPr>
          <p:cNvPicPr>
            <a:picLocks noChangeAspect="1"/>
          </p:cNvPicPr>
          <p:nvPr/>
        </p:nvPicPr>
        <p:blipFill rotWithShape="1">
          <a:blip r:embed="rId8" cstate="email">
            <a:extLst>
              <a:ext uri="{28A0092B-C50C-407E-A947-70E740481C1C}">
                <a14:useLocalDpi xmlns:a14="http://schemas.microsoft.com/office/drawing/2010/main" val="0"/>
              </a:ext>
            </a:extLst>
          </a:blip>
          <a:srcRect t="24226" r="2" b="26859"/>
          <a:stretch/>
        </p:blipFill>
        <p:spPr>
          <a:xfrm>
            <a:off x="482600" y="482600"/>
            <a:ext cx="8178799" cy="4178299"/>
          </a:xfrm>
          <a:prstGeom prst="rect">
            <a:avLst/>
          </a:prstGeom>
        </p:spPr>
      </p:pic>
      <p:sp>
        <p:nvSpPr>
          <p:cNvPr id="36" name="Rectangle 29">
            <a:extLst>
              <a:ext uri="{FF2B5EF4-FFF2-40B4-BE49-F238E27FC236}">
                <a16:creationId xmlns:a16="http://schemas.microsoft.com/office/drawing/2014/main" id="{91091950-5655-45D2-858E-FE8CBE07C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751214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10480"/>
            <a:ext cx="9144000" cy="771945"/>
          </a:xfrm>
        </p:spPr>
        <p:txBody>
          <a:bodyPr>
            <a:normAutofit/>
          </a:bodyPr>
          <a:lstStyle/>
          <a:p>
            <a:pPr algn="ctr"/>
            <a:r>
              <a:rPr lang="it-IT" sz="3200" b="1" dirty="0">
                <a:solidFill>
                  <a:srgbClr val="FFFF00"/>
                </a:solidFill>
              </a:rPr>
              <a:t>Fascia degli asteroidi</a:t>
            </a:r>
            <a:endParaRPr lang="it-IT" dirty="0">
              <a:solidFill>
                <a:schemeClr val="tx1"/>
              </a:solidFill>
            </a:endParaRPr>
          </a:p>
        </p:txBody>
      </p:sp>
      <p:sp>
        <p:nvSpPr>
          <p:cNvPr id="10" name="Segnaposto contenuto 2"/>
          <p:cNvSpPr txBox="1">
            <a:spLocks/>
          </p:cNvSpPr>
          <p:nvPr/>
        </p:nvSpPr>
        <p:spPr>
          <a:xfrm>
            <a:off x="338523" y="686030"/>
            <a:ext cx="8447667" cy="395431"/>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lgn="ctr">
              <a:buNone/>
            </a:pPr>
            <a:r>
              <a:rPr lang="it-IT" sz="1800" i="1" dirty="0"/>
              <a:t>La maggior parte di essi è stata espulsa durante la formazione del S.S. </a:t>
            </a:r>
            <a:endParaRPr lang="it-IT" sz="1800" dirty="0"/>
          </a:p>
        </p:txBody>
      </p:sp>
      <p:sp>
        <p:nvSpPr>
          <p:cNvPr id="13" name="Segnaposto contenuto 2"/>
          <p:cNvSpPr txBox="1">
            <a:spLocks/>
          </p:cNvSpPr>
          <p:nvPr/>
        </p:nvSpPr>
        <p:spPr>
          <a:xfrm>
            <a:off x="0" y="4708158"/>
            <a:ext cx="9144001" cy="334265"/>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lgn="ctr">
              <a:buNone/>
            </a:pPr>
            <a:r>
              <a:rPr lang="it-IT" sz="1400" i="1" dirty="0"/>
              <a:t>Più di 100.000 catalogati, ma si stima che esistano più di 10</a:t>
            </a:r>
            <a:r>
              <a:rPr lang="it-IT" sz="1400" i="1" baseline="30000" dirty="0"/>
              <a:t>6</a:t>
            </a:r>
            <a:r>
              <a:rPr lang="it-IT" sz="1400" i="1" dirty="0"/>
              <a:t> con diametro maggiore di  1 Km</a:t>
            </a:r>
            <a:endParaRPr lang="it-IT" sz="1400" dirty="0"/>
          </a:p>
        </p:txBody>
      </p:sp>
      <p:pic>
        <p:nvPicPr>
          <p:cNvPr id="4" name="Immagine 3" descr="Vesta.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476" y="1210653"/>
            <a:ext cx="3779358" cy="3149465"/>
          </a:xfrm>
          <a:prstGeom prst="rect">
            <a:avLst/>
          </a:prstGeom>
        </p:spPr>
      </p:pic>
      <p:sp>
        <p:nvSpPr>
          <p:cNvPr id="6" name="CasellaDiTesto 5"/>
          <p:cNvSpPr txBox="1"/>
          <p:nvPr/>
        </p:nvSpPr>
        <p:spPr>
          <a:xfrm>
            <a:off x="338524" y="4360118"/>
            <a:ext cx="3474716" cy="276999"/>
          </a:xfrm>
          <a:prstGeom prst="rect">
            <a:avLst/>
          </a:prstGeom>
          <a:noFill/>
        </p:spPr>
        <p:txBody>
          <a:bodyPr wrap="square" rtlCol="0">
            <a:spAutoFit/>
          </a:bodyPr>
          <a:lstStyle/>
          <a:p>
            <a:pPr algn="ctr"/>
            <a:r>
              <a:rPr lang="it-IT" sz="1200" b="1" i="1" dirty="0"/>
              <a:t>Vesta</a:t>
            </a:r>
            <a:r>
              <a:rPr lang="it-IT" sz="1200" i="1" dirty="0"/>
              <a:t>: 500 Km</a:t>
            </a:r>
          </a:p>
        </p:txBody>
      </p:sp>
      <p:pic>
        <p:nvPicPr>
          <p:cNvPr id="7" name="Immagine 6" descr="600px-Ceres_optimized.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5818805" y="1235304"/>
            <a:ext cx="3124814" cy="3124814"/>
          </a:xfrm>
          <a:prstGeom prst="rect">
            <a:avLst/>
          </a:prstGeom>
        </p:spPr>
      </p:pic>
      <p:sp>
        <p:nvSpPr>
          <p:cNvPr id="11" name="CasellaDiTesto 10"/>
          <p:cNvSpPr txBox="1"/>
          <p:nvPr/>
        </p:nvSpPr>
        <p:spPr>
          <a:xfrm>
            <a:off x="5818805" y="4360118"/>
            <a:ext cx="2891671" cy="276999"/>
          </a:xfrm>
          <a:prstGeom prst="rect">
            <a:avLst/>
          </a:prstGeom>
          <a:noFill/>
        </p:spPr>
        <p:txBody>
          <a:bodyPr wrap="square" rtlCol="0">
            <a:spAutoFit/>
          </a:bodyPr>
          <a:lstStyle/>
          <a:p>
            <a:pPr algn="ctr"/>
            <a:r>
              <a:rPr lang="it-IT" sz="1200" b="1" i="1" dirty="0"/>
              <a:t>Cerere</a:t>
            </a:r>
            <a:r>
              <a:rPr lang="it-IT" sz="1200" i="1" dirty="0"/>
              <a:t> visto da Hubble: 950 Km</a:t>
            </a:r>
          </a:p>
        </p:txBody>
      </p:sp>
    </p:spTree>
    <p:extLst>
      <p:ext uri="{BB962C8B-B14F-4D97-AF65-F5344CB8AC3E}">
        <p14:creationId xmlns:p14="http://schemas.microsoft.com/office/powerpoint/2010/main" val="1766105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extLst/>
          </a:blip>
          <a:stretch/>
        </a:blipFill>
        <a:effectLst/>
      </p:bgPr>
    </p:bg>
    <p:spTree>
      <p:nvGrpSpPr>
        <p:cNvPr id="1" name=""/>
        <p:cNvGrpSpPr/>
        <p:nvPr/>
      </p:nvGrpSpPr>
      <p:grpSpPr>
        <a:xfrm>
          <a:off x="0" y="0"/>
          <a:ext cx="0" cy="0"/>
          <a:chOff x="0" y="0"/>
          <a:chExt cx="0" cy="0"/>
        </a:xfrm>
      </p:grpSpPr>
      <p:pic>
        <p:nvPicPr>
          <p:cNvPr id="57" name="Picture 40">
            <a:extLst>
              <a:ext uri="{FF2B5EF4-FFF2-40B4-BE49-F238E27FC236}">
                <a16:creationId xmlns:a16="http://schemas.microsoft.com/office/drawing/2014/main" id="{C9ECDD5C-152A-4CC7-8333-0F367B3A62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cstate="email">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58" name="Picture 42">
            <a:extLst>
              <a:ext uri="{FF2B5EF4-FFF2-40B4-BE49-F238E27FC236}">
                <a16:creationId xmlns:a16="http://schemas.microsoft.com/office/drawing/2014/main" id="{7F5C92A3-369B-43F3-BDCE-E560B1B0EC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cstate="email">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59" name="Oval 44">
            <a:extLst>
              <a:ext uri="{FF2B5EF4-FFF2-40B4-BE49-F238E27FC236}">
                <a16:creationId xmlns:a16="http://schemas.microsoft.com/office/drawing/2014/main" id="{AEBE9F1A-B38D-446E-83AE-14B17CE77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60" name="Picture 46">
            <a:extLst>
              <a:ext uri="{FF2B5EF4-FFF2-40B4-BE49-F238E27FC236}">
                <a16:creationId xmlns:a16="http://schemas.microsoft.com/office/drawing/2014/main" id="{915B5014-A7EC-4BA6-9C83-8840CF81DB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cstate="email">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61" name="Picture 48">
            <a:extLst>
              <a:ext uri="{FF2B5EF4-FFF2-40B4-BE49-F238E27FC236}">
                <a16:creationId xmlns:a16="http://schemas.microsoft.com/office/drawing/2014/main" id="{022C43AB-86D7-420D-8AD7-DC0A15FDD0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cstate="email">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62" name="Rectangle 50">
            <a:extLst>
              <a:ext uri="{FF2B5EF4-FFF2-40B4-BE49-F238E27FC236}">
                <a16:creationId xmlns:a16="http://schemas.microsoft.com/office/drawing/2014/main" id="{5E3EB826-A471-488F-9E8A-D65528A3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3" name="Rectangle 52">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magine 2">
            <a:extLst>
              <a:ext uri="{FF2B5EF4-FFF2-40B4-BE49-F238E27FC236}">
                <a16:creationId xmlns:a16="http://schemas.microsoft.com/office/drawing/2014/main" id="{F10ECFE5-6D5C-4D25-AD53-F2DA391E1CF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27873" y="89506"/>
            <a:ext cx="4964488" cy="4964488"/>
          </a:xfrm>
          <a:prstGeom prst="rect">
            <a:avLst/>
          </a:prstGeom>
        </p:spPr>
      </p:pic>
      <p:sp>
        <p:nvSpPr>
          <p:cNvPr id="64" name="Rectangle 54">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30967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 y="48203"/>
            <a:ext cx="9143999" cy="726714"/>
          </a:xfrm>
        </p:spPr>
        <p:txBody>
          <a:bodyPr>
            <a:normAutofit/>
          </a:bodyPr>
          <a:lstStyle/>
          <a:p>
            <a:pPr algn="ctr"/>
            <a:r>
              <a:rPr lang="it-IT" sz="3200" b="1" dirty="0" err="1">
                <a:solidFill>
                  <a:srgbClr val="FFFF00"/>
                </a:solidFill>
              </a:rPr>
              <a:t>Near</a:t>
            </a:r>
            <a:r>
              <a:rPr lang="it-IT" sz="3200" b="1" dirty="0">
                <a:solidFill>
                  <a:srgbClr val="FFFF00"/>
                </a:solidFill>
              </a:rPr>
              <a:t> Earth </a:t>
            </a:r>
            <a:r>
              <a:rPr lang="it-IT" sz="3200" b="1" dirty="0" err="1">
                <a:solidFill>
                  <a:srgbClr val="FFFF00"/>
                </a:solidFill>
              </a:rPr>
              <a:t>Comet</a:t>
            </a:r>
            <a:endParaRPr lang="it-IT" dirty="0">
              <a:solidFill>
                <a:srgbClr val="FFFF00"/>
              </a:solidFill>
            </a:endParaRPr>
          </a:p>
        </p:txBody>
      </p:sp>
      <p:sp>
        <p:nvSpPr>
          <p:cNvPr id="3" name="Rettangolo 2">
            <a:extLst>
              <a:ext uri="{FF2B5EF4-FFF2-40B4-BE49-F238E27FC236}">
                <a16:creationId xmlns:a16="http://schemas.microsoft.com/office/drawing/2014/main" id="{DCE455C2-2D3F-4510-834A-E572835AFF1E}"/>
              </a:ext>
            </a:extLst>
          </p:cNvPr>
          <p:cNvSpPr/>
          <p:nvPr/>
        </p:nvSpPr>
        <p:spPr>
          <a:xfrm>
            <a:off x="228701" y="925646"/>
            <a:ext cx="8686594" cy="584775"/>
          </a:xfrm>
          <a:prstGeom prst="rect">
            <a:avLst/>
          </a:prstGeom>
        </p:spPr>
        <p:txBody>
          <a:bodyPr wrap="square">
            <a:spAutoFit/>
          </a:bodyPr>
          <a:lstStyle/>
          <a:p>
            <a:r>
              <a:rPr lang="it-IT" sz="1600" dirty="0"/>
              <a:t>Le comete sono meno dense degli asteroidi (modello di </a:t>
            </a:r>
            <a:r>
              <a:rPr lang="it-IT" sz="1600" dirty="0" err="1">
                <a:solidFill>
                  <a:srgbClr val="FFFF00"/>
                </a:solidFill>
              </a:rPr>
              <a:t>Whipple</a:t>
            </a:r>
            <a:r>
              <a:rPr lang="it-IT" sz="1600" dirty="0"/>
              <a:t>) ma viaggiano a velocità maggiore</a:t>
            </a:r>
          </a:p>
        </p:txBody>
      </p:sp>
      <p:sp>
        <p:nvSpPr>
          <p:cNvPr id="8" name="Rettangolo 7">
            <a:extLst>
              <a:ext uri="{FF2B5EF4-FFF2-40B4-BE49-F238E27FC236}">
                <a16:creationId xmlns:a16="http://schemas.microsoft.com/office/drawing/2014/main" id="{23922BD8-3BDC-414F-8E5C-2DF2E5AB99C2}"/>
              </a:ext>
            </a:extLst>
          </p:cNvPr>
          <p:cNvSpPr/>
          <p:nvPr/>
        </p:nvSpPr>
        <p:spPr>
          <a:xfrm>
            <a:off x="169434" y="1877268"/>
            <a:ext cx="8686594" cy="584775"/>
          </a:xfrm>
          <a:prstGeom prst="rect">
            <a:avLst/>
          </a:prstGeom>
        </p:spPr>
        <p:txBody>
          <a:bodyPr wrap="square">
            <a:spAutoFit/>
          </a:bodyPr>
          <a:lstStyle/>
          <a:p>
            <a:r>
              <a:rPr lang="it-IT" sz="1600" dirty="0"/>
              <a:t>Il passaggio ripetuto di una cometa che attraversa l’orbita della Terra causa gli sciami meteorici che può includere anche NEA</a:t>
            </a:r>
          </a:p>
        </p:txBody>
      </p:sp>
      <p:sp>
        <p:nvSpPr>
          <p:cNvPr id="9" name="Rettangolo 8">
            <a:extLst>
              <a:ext uri="{FF2B5EF4-FFF2-40B4-BE49-F238E27FC236}">
                <a16:creationId xmlns:a16="http://schemas.microsoft.com/office/drawing/2014/main" id="{8C228440-1B98-4FCA-9224-CCE1798B5A60}"/>
              </a:ext>
            </a:extLst>
          </p:cNvPr>
          <p:cNvSpPr/>
          <p:nvPr/>
        </p:nvSpPr>
        <p:spPr>
          <a:xfrm>
            <a:off x="169434" y="3148895"/>
            <a:ext cx="8686594" cy="1077218"/>
          </a:xfrm>
          <a:prstGeom prst="rect">
            <a:avLst/>
          </a:prstGeom>
        </p:spPr>
        <p:txBody>
          <a:bodyPr wrap="square">
            <a:spAutoFit/>
          </a:bodyPr>
          <a:lstStyle/>
          <a:p>
            <a:r>
              <a:rPr lang="it-IT" sz="1600" dirty="0"/>
              <a:t>Le orbite delle comete di corto periodo (oltre l’orbita di Nettuno) sono di più facile identificazione, a causa dei numerosi passaggi passati. </a:t>
            </a:r>
          </a:p>
          <a:p>
            <a:endParaRPr lang="it-IT" sz="1600" dirty="0"/>
          </a:p>
          <a:p>
            <a:r>
              <a:rPr lang="it-IT" sz="1600" dirty="0"/>
              <a:t>Una stima dell’ESA riporta circa 100 </a:t>
            </a:r>
            <a:r>
              <a:rPr lang="it-IT" sz="1600" dirty="0">
                <a:solidFill>
                  <a:srgbClr val="FFFF00"/>
                </a:solidFill>
              </a:rPr>
              <a:t>NEC</a:t>
            </a:r>
            <a:r>
              <a:rPr lang="it-IT" sz="1600" dirty="0"/>
              <a:t> (</a:t>
            </a:r>
            <a:r>
              <a:rPr lang="it-IT" sz="1600" dirty="0">
                <a:hlinkClick r:id="rId3"/>
              </a:rPr>
              <a:t>http://neo.ssa.esa.int/</a:t>
            </a:r>
            <a:r>
              <a:rPr lang="it-IT" sz="1600" dirty="0" err="1">
                <a:hlinkClick r:id="rId3"/>
              </a:rPr>
              <a:t>comets</a:t>
            </a:r>
            <a:r>
              <a:rPr lang="it-IT" sz="1600" dirty="0"/>
              <a:t>)</a:t>
            </a:r>
            <a:endParaRPr lang="it-IT" sz="1600" dirty="0">
              <a:solidFill>
                <a:srgbClr val="FFFF00"/>
              </a:solidFill>
            </a:endParaRPr>
          </a:p>
        </p:txBody>
      </p:sp>
    </p:spTree>
    <p:extLst>
      <p:ext uri="{BB962C8B-B14F-4D97-AF65-F5344CB8AC3E}">
        <p14:creationId xmlns:p14="http://schemas.microsoft.com/office/powerpoint/2010/main" val="1167058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82349"/>
            <a:ext cx="4471943" cy="678730"/>
          </a:xfrm>
        </p:spPr>
        <p:txBody>
          <a:bodyPr>
            <a:normAutofit fontScale="90000"/>
          </a:bodyPr>
          <a:lstStyle/>
          <a:p>
            <a:pPr algn="ctr"/>
            <a:r>
              <a:rPr lang="it-IT" sz="3600" b="1" dirty="0">
                <a:solidFill>
                  <a:srgbClr val="FFFF00"/>
                </a:solidFill>
              </a:rPr>
              <a:t>Meteori, meteoriti …</a:t>
            </a:r>
            <a:endParaRPr lang="it-IT" sz="3600" dirty="0">
              <a:solidFill>
                <a:schemeClr val="tx1"/>
              </a:solidFill>
            </a:endParaRPr>
          </a:p>
        </p:txBody>
      </p:sp>
      <p:sp>
        <p:nvSpPr>
          <p:cNvPr id="6" name="Segnaposto contenuto 2"/>
          <p:cNvSpPr txBox="1">
            <a:spLocks/>
          </p:cNvSpPr>
          <p:nvPr/>
        </p:nvSpPr>
        <p:spPr>
          <a:xfrm>
            <a:off x="324985" y="843155"/>
            <a:ext cx="3944167" cy="1255990"/>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800" b="1" i="1" dirty="0">
                <a:solidFill>
                  <a:srgbClr val="FF0000"/>
                </a:solidFill>
              </a:rPr>
              <a:t>Meteora</a:t>
            </a:r>
            <a:r>
              <a:rPr lang="it-IT" sz="1800" dirty="0"/>
              <a:t>: frammenti eiettati da nuclei cometari che entrano nell’atmosfera, si incendiano a causa dell’attrito</a:t>
            </a:r>
          </a:p>
        </p:txBody>
      </p:sp>
      <p:sp>
        <p:nvSpPr>
          <p:cNvPr id="7" name="Segnaposto contenuto 2"/>
          <p:cNvSpPr txBox="1">
            <a:spLocks/>
          </p:cNvSpPr>
          <p:nvPr/>
        </p:nvSpPr>
        <p:spPr>
          <a:xfrm>
            <a:off x="324985" y="2428628"/>
            <a:ext cx="3816092" cy="816958"/>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dirty="0"/>
              <a:t>Una meteora molto brillante è chiamata </a:t>
            </a:r>
            <a:r>
              <a:rPr lang="it-IT" b="1" i="1" dirty="0">
                <a:solidFill>
                  <a:srgbClr val="FF0000"/>
                </a:solidFill>
              </a:rPr>
              <a:t>bolide</a:t>
            </a:r>
            <a:r>
              <a:rPr lang="it-IT" dirty="0"/>
              <a:t>.</a:t>
            </a:r>
          </a:p>
        </p:txBody>
      </p:sp>
      <p:sp>
        <p:nvSpPr>
          <p:cNvPr id="8" name="Segnaposto contenuto 2"/>
          <p:cNvSpPr txBox="1">
            <a:spLocks/>
          </p:cNvSpPr>
          <p:nvPr/>
        </p:nvSpPr>
        <p:spPr>
          <a:xfrm>
            <a:off x="351670" y="3612044"/>
            <a:ext cx="4018877" cy="1143432"/>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dirty="0"/>
              <a:t>Ciò che rimane, una volta caduto sulla Terra, si chiama </a:t>
            </a:r>
            <a:r>
              <a:rPr lang="it-IT" b="1" i="1" dirty="0">
                <a:solidFill>
                  <a:srgbClr val="FF0000"/>
                </a:solidFill>
              </a:rPr>
              <a:t>meteorite</a:t>
            </a:r>
          </a:p>
        </p:txBody>
      </p:sp>
      <p:pic>
        <p:nvPicPr>
          <p:cNvPr id="3" name="Immagine 2" descr="proxy.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471943" y="0"/>
            <a:ext cx="4672058" cy="5143500"/>
          </a:xfrm>
          <a:prstGeom prst="rect">
            <a:avLst/>
          </a:prstGeom>
        </p:spPr>
      </p:pic>
    </p:spTree>
    <p:extLst>
      <p:ext uri="{BB962C8B-B14F-4D97-AF65-F5344CB8AC3E}">
        <p14:creationId xmlns:p14="http://schemas.microsoft.com/office/powerpoint/2010/main" val="99611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792" y="15416"/>
            <a:ext cx="9139208" cy="738728"/>
          </a:xfrm>
        </p:spPr>
        <p:txBody>
          <a:bodyPr>
            <a:normAutofit/>
          </a:bodyPr>
          <a:lstStyle/>
          <a:p>
            <a:pPr algn="ctr"/>
            <a:r>
              <a:rPr lang="it-IT" sz="4000" b="1" dirty="0">
                <a:solidFill>
                  <a:srgbClr val="FFFF00"/>
                </a:solidFill>
              </a:rPr>
              <a:t>Sono frequenti?</a:t>
            </a:r>
          </a:p>
        </p:txBody>
      </p:sp>
      <p:sp>
        <p:nvSpPr>
          <p:cNvPr id="6" name="Segnaposto contenuto 2"/>
          <p:cNvSpPr txBox="1">
            <a:spLocks/>
          </p:cNvSpPr>
          <p:nvPr/>
        </p:nvSpPr>
        <p:spPr>
          <a:xfrm>
            <a:off x="95412" y="1023206"/>
            <a:ext cx="7195930" cy="428144"/>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lgn="just">
              <a:buNone/>
            </a:pPr>
            <a:r>
              <a:rPr lang="it-IT" sz="1800" dirty="0">
                <a:solidFill>
                  <a:srgbClr val="FFFFFF"/>
                </a:solidFill>
              </a:rPr>
              <a:t>Quanto materiale cade </a:t>
            </a:r>
            <a:r>
              <a:rPr lang="it-IT" sz="1800" u="sng" dirty="0">
                <a:solidFill>
                  <a:srgbClr val="FFFFFF"/>
                </a:solidFill>
              </a:rPr>
              <a:t>ogni giorno</a:t>
            </a:r>
            <a:r>
              <a:rPr lang="it-IT" sz="1800" dirty="0">
                <a:solidFill>
                  <a:srgbClr val="FFFFFF"/>
                </a:solidFill>
              </a:rPr>
              <a:t> mediamente sulla Terra?</a:t>
            </a:r>
          </a:p>
        </p:txBody>
      </p:sp>
      <p:sp>
        <p:nvSpPr>
          <p:cNvPr id="7" name="Segnaposto contenuto 2"/>
          <p:cNvSpPr txBox="1">
            <a:spLocks/>
          </p:cNvSpPr>
          <p:nvPr/>
        </p:nvSpPr>
        <p:spPr>
          <a:xfrm>
            <a:off x="7195926" y="967277"/>
            <a:ext cx="1057524" cy="360403"/>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2200" b="1" i="1" dirty="0">
                <a:solidFill>
                  <a:srgbClr val="FF0000"/>
                </a:solidFill>
              </a:rPr>
              <a:t>100 t</a:t>
            </a:r>
          </a:p>
        </p:txBody>
      </p:sp>
      <p:sp>
        <p:nvSpPr>
          <p:cNvPr id="10" name="Segnaposto contenuto 2"/>
          <p:cNvSpPr txBox="1">
            <a:spLocks/>
          </p:cNvSpPr>
          <p:nvPr/>
        </p:nvSpPr>
        <p:spPr>
          <a:xfrm>
            <a:off x="149353" y="1529681"/>
            <a:ext cx="8803815" cy="697886"/>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800" dirty="0"/>
              <a:t>Le testimonianze lasciate da questi impatti sono i </a:t>
            </a:r>
            <a:r>
              <a:rPr lang="it-IT" sz="1800" dirty="0">
                <a:solidFill>
                  <a:srgbClr val="FFFF00"/>
                </a:solidFill>
              </a:rPr>
              <a:t>crateri</a:t>
            </a:r>
            <a:r>
              <a:rPr lang="it-IT" sz="1800" dirty="0"/>
              <a:t> e le depressioni sulla Terra</a:t>
            </a:r>
            <a:endParaRPr lang="it-IT" sz="1800" b="1" i="1" dirty="0">
              <a:solidFill>
                <a:srgbClr val="FF0000"/>
              </a:solidFill>
            </a:endParaRPr>
          </a:p>
        </p:txBody>
      </p:sp>
      <p:pic>
        <p:nvPicPr>
          <p:cNvPr id="4" name="Immagine 3">
            <a:extLst>
              <a:ext uri="{FF2B5EF4-FFF2-40B4-BE49-F238E27FC236}">
                <a16:creationId xmlns:a16="http://schemas.microsoft.com/office/drawing/2014/main" id="{E4828A2F-EFF0-4546-BBE0-D9BC9F8B7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1221" y="2103897"/>
            <a:ext cx="5524500" cy="2959100"/>
          </a:xfrm>
          <a:prstGeom prst="rect">
            <a:avLst/>
          </a:prstGeom>
        </p:spPr>
      </p:pic>
    </p:spTree>
    <p:extLst>
      <p:ext uri="{BB962C8B-B14F-4D97-AF65-F5344CB8AC3E}">
        <p14:creationId xmlns:p14="http://schemas.microsoft.com/office/powerpoint/2010/main" val="2174195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27802"/>
            <a:ext cx="9144000" cy="698062"/>
          </a:xfrm>
        </p:spPr>
        <p:txBody>
          <a:bodyPr>
            <a:normAutofit/>
          </a:bodyPr>
          <a:lstStyle/>
          <a:p>
            <a:pPr algn="ctr"/>
            <a:r>
              <a:rPr lang="it-IT" sz="3200" b="1" dirty="0">
                <a:solidFill>
                  <a:srgbClr val="FFFF00"/>
                </a:solidFill>
              </a:rPr>
              <a:t>Impatti, depressioni</a:t>
            </a:r>
            <a:endParaRPr lang="it-IT" dirty="0">
              <a:solidFill>
                <a:schemeClr val="tx1"/>
              </a:solidFill>
            </a:endParaRPr>
          </a:p>
        </p:txBody>
      </p:sp>
      <p:pic>
        <p:nvPicPr>
          <p:cNvPr id="12" name="Immagine 11" descr="Vredefort_Dome_STS51I-33-56AA.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157" y="652166"/>
            <a:ext cx="3789412" cy="3812603"/>
          </a:xfrm>
          <a:prstGeom prst="rect">
            <a:avLst/>
          </a:prstGeom>
        </p:spPr>
      </p:pic>
      <p:sp>
        <p:nvSpPr>
          <p:cNvPr id="3" name="CasellaDiTesto 2"/>
          <p:cNvSpPr txBox="1"/>
          <p:nvPr/>
        </p:nvSpPr>
        <p:spPr>
          <a:xfrm>
            <a:off x="874644" y="4434445"/>
            <a:ext cx="2771913" cy="646331"/>
          </a:xfrm>
          <a:prstGeom prst="rect">
            <a:avLst/>
          </a:prstGeom>
          <a:noFill/>
        </p:spPr>
        <p:txBody>
          <a:bodyPr wrap="none" rtlCol="0">
            <a:spAutoFit/>
          </a:bodyPr>
          <a:lstStyle/>
          <a:p>
            <a:r>
              <a:rPr lang="it-IT" sz="1200" i="1" dirty="0" err="1"/>
              <a:t>Vredefort</a:t>
            </a:r>
            <a:r>
              <a:rPr lang="it-IT" sz="1200" i="1" dirty="0"/>
              <a:t> (ZA)</a:t>
            </a:r>
          </a:p>
          <a:p>
            <a:r>
              <a:rPr lang="it-IT" sz="1200" b="1" i="1" dirty="0"/>
              <a:t>Diametro</a:t>
            </a:r>
            <a:r>
              <a:rPr lang="it-IT" sz="1200" i="1" dirty="0"/>
              <a:t>: 300 Km </a:t>
            </a:r>
          </a:p>
          <a:p>
            <a:r>
              <a:rPr lang="it-IT" sz="1200" b="1" i="1" dirty="0"/>
              <a:t>Impatto avvenuto </a:t>
            </a:r>
            <a:r>
              <a:rPr lang="it-IT" sz="1200" i="1" dirty="0"/>
              <a:t>2 miliardi anni fa</a:t>
            </a:r>
          </a:p>
        </p:txBody>
      </p:sp>
      <p:pic>
        <p:nvPicPr>
          <p:cNvPr id="4" name="Immagine 3" descr="yucatan1.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163860" y="652166"/>
            <a:ext cx="4752516" cy="3782279"/>
          </a:xfrm>
          <a:prstGeom prst="rect">
            <a:avLst/>
          </a:prstGeom>
        </p:spPr>
      </p:pic>
      <p:sp>
        <p:nvSpPr>
          <p:cNvPr id="6" name="CasellaDiTesto 5"/>
          <p:cNvSpPr txBox="1"/>
          <p:nvPr/>
        </p:nvSpPr>
        <p:spPr>
          <a:xfrm>
            <a:off x="5254104" y="4456322"/>
            <a:ext cx="2794355" cy="646331"/>
          </a:xfrm>
          <a:prstGeom prst="rect">
            <a:avLst/>
          </a:prstGeom>
          <a:noFill/>
        </p:spPr>
        <p:txBody>
          <a:bodyPr wrap="none" rtlCol="0">
            <a:spAutoFit/>
          </a:bodyPr>
          <a:lstStyle/>
          <a:p>
            <a:r>
              <a:rPr lang="it-IT" sz="1200" i="1" dirty="0" err="1"/>
              <a:t>Chicxulub</a:t>
            </a:r>
            <a:r>
              <a:rPr lang="it-IT" sz="1200" i="1" dirty="0"/>
              <a:t> (MX)</a:t>
            </a:r>
          </a:p>
          <a:p>
            <a:r>
              <a:rPr lang="it-IT" sz="1200" b="1" i="1" dirty="0"/>
              <a:t>Diametro</a:t>
            </a:r>
            <a:r>
              <a:rPr lang="it-IT" sz="1200" i="1" dirty="0"/>
              <a:t>: 300 Km</a:t>
            </a:r>
          </a:p>
          <a:p>
            <a:r>
              <a:rPr lang="it-IT" sz="1200" b="1" i="1" dirty="0"/>
              <a:t>Impatto avvenuto </a:t>
            </a:r>
            <a:r>
              <a:rPr lang="it-IT" sz="1200" i="1" dirty="0"/>
              <a:t>65 milioni anni fa</a:t>
            </a:r>
          </a:p>
        </p:txBody>
      </p:sp>
    </p:spTree>
    <p:extLst>
      <p:ext uri="{BB962C8B-B14F-4D97-AF65-F5344CB8AC3E}">
        <p14:creationId xmlns:p14="http://schemas.microsoft.com/office/powerpoint/2010/main" val="2992131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p:cNvSpPr txBox="1"/>
          <p:nvPr/>
        </p:nvSpPr>
        <p:spPr>
          <a:xfrm>
            <a:off x="5563272" y="4469367"/>
            <a:ext cx="2922595" cy="646331"/>
          </a:xfrm>
          <a:prstGeom prst="rect">
            <a:avLst/>
          </a:prstGeom>
          <a:noFill/>
        </p:spPr>
        <p:txBody>
          <a:bodyPr wrap="none" rtlCol="0">
            <a:spAutoFit/>
          </a:bodyPr>
          <a:lstStyle/>
          <a:p>
            <a:r>
              <a:rPr lang="it-IT" sz="1200" i="1" dirty="0" err="1"/>
              <a:t>Manucouagan</a:t>
            </a:r>
            <a:r>
              <a:rPr lang="it-IT" sz="1200" i="1" dirty="0"/>
              <a:t> (CA)</a:t>
            </a:r>
          </a:p>
          <a:p>
            <a:r>
              <a:rPr lang="it-IT" sz="1200" b="1" i="1" dirty="0"/>
              <a:t>Diametro:</a:t>
            </a:r>
            <a:r>
              <a:rPr lang="it-IT" sz="1200" i="1" dirty="0"/>
              <a:t> 100 Km </a:t>
            </a:r>
          </a:p>
          <a:p>
            <a:r>
              <a:rPr lang="it-IT" sz="1200" b="1" i="1" dirty="0"/>
              <a:t>Impatto avvenuto</a:t>
            </a:r>
            <a:r>
              <a:rPr lang="it-IT" sz="1200" i="1" dirty="0"/>
              <a:t> 214 milioni anni fa </a:t>
            </a:r>
          </a:p>
        </p:txBody>
      </p:sp>
      <p:pic>
        <p:nvPicPr>
          <p:cNvPr id="5" name="Immagine 4" descr="250px-Popigai_crater_russia.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980" y="628306"/>
            <a:ext cx="3547743" cy="3782279"/>
          </a:xfrm>
          <a:prstGeom prst="rect">
            <a:avLst/>
          </a:prstGeom>
        </p:spPr>
      </p:pic>
      <p:pic>
        <p:nvPicPr>
          <p:cNvPr id="7" name="Immagine 6" descr="600px-STS009_Manicouagan.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94637" y="645076"/>
            <a:ext cx="4008032" cy="3841054"/>
          </a:xfrm>
          <a:prstGeom prst="rect">
            <a:avLst/>
          </a:prstGeom>
        </p:spPr>
      </p:pic>
      <p:sp>
        <p:nvSpPr>
          <p:cNvPr id="9" name="Titolo 1">
            <a:extLst>
              <a:ext uri="{FF2B5EF4-FFF2-40B4-BE49-F238E27FC236}">
                <a16:creationId xmlns:a16="http://schemas.microsoft.com/office/drawing/2014/main" id="{E665481F-2542-47D5-A9C1-B4C25D0B509C}"/>
              </a:ext>
            </a:extLst>
          </p:cNvPr>
          <p:cNvSpPr txBox="1">
            <a:spLocks/>
          </p:cNvSpPr>
          <p:nvPr/>
        </p:nvSpPr>
        <p:spPr>
          <a:xfrm>
            <a:off x="0" y="27802"/>
            <a:ext cx="9144000" cy="698062"/>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Impatti, depressioni</a:t>
            </a:r>
            <a:endParaRPr lang="it-IT" dirty="0">
              <a:solidFill>
                <a:schemeClr val="tx1"/>
              </a:solidFill>
            </a:endParaRPr>
          </a:p>
        </p:txBody>
      </p:sp>
      <p:sp>
        <p:nvSpPr>
          <p:cNvPr id="8" name="CasellaDiTesto 7">
            <a:extLst>
              <a:ext uri="{FF2B5EF4-FFF2-40B4-BE49-F238E27FC236}">
                <a16:creationId xmlns:a16="http://schemas.microsoft.com/office/drawing/2014/main" id="{BE0DAEE4-3250-44CF-A138-3F1338EC4D06}"/>
              </a:ext>
            </a:extLst>
          </p:cNvPr>
          <p:cNvSpPr txBox="1"/>
          <p:nvPr/>
        </p:nvSpPr>
        <p:spPr>
          <a:xfrm>
            <a:off x="486251" y="4424099"/>
            <a:ext cx="2922595" cy="646331"/>
          </a:xfrm>
          <a:prstGeom prst="rect">
            <a:avLst/>
          </a:prstGeom>
          <a:noFill/>
        </p:spPr>
        <p:txBody>
          <a:bodyPr wrap="none" rtlCol="0">
            <a:spAutoFit/>
          </a:bodyPr>
          <a:lstStyle/>
          <a:p>
            <a:r>
              <a:rPr lang="it-IT" sz="1200" i="1" dirty="0" err="1"/>
              <a:t>Popigai</a:t>
            </a:r>
            <a:r>
              <a:rPr lang="it-IT" sz="1200" i="1" dirty="0"/>
              <a:t> (RU) </a:t>
            </a:r>
          </a:p>
          <a:p>
            <a:r>
              <a:rPr lang="it-IT" sz="1200" b="1" i="1" dirty="0"/>
              <a:t>Diametro</a:t>
            </a:r>
            <a:r>
              <a:rPr lang="it-IT" sz="1200" i="1" dirty="0"/>
              <a:t>: 100 Km </a:t>
            </a:r>
          </a:p>
          <a:p>
            <a:r>
              <a:rPr lang="it-IT" sz="1200" b="1" i="1" dirty="0"/>
              <a:t>Impatto avvenuto </a:t>
            </a:r>
            <a:r>
              <a:rPr lang="it-IT" sz="1200" i="1" dirty="0"/>
              <a:t>35,7 milioni anni fa</a:t>
            </a:r>
          </a:p>
        </p:txBody>
      </p:sp>
    </p:spTree>
    <p:extLst>
      <p:ext uri="{BB962C8B-B14F-4D97-AF65-F5344CB8AC3E}">
        <p14:creationId xmlns:p14="http://schemas.microsoft.com/office/powerpoint/2010/main" val="4121471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13073"/>
            <a:ext cx="9144000" cy="741455"/>
          </a:xfrm>
        </p:spPr>
        <p:txBody>
          <a:bodyPr>
            <a:normAutofit/>
          </a:bodyPr>
          <a:lstStyle/>
          <a:p>
            <a:pPr algn="ctr"/>
            <a:r>
              <a:rPr lang="it-IT" sz="3200" b="1" dirty="0">
                <a:solidFill>
                  <a:srgbClr val="FFFF00"/>
                </a:solidFill>
              </a:rPr>
              <a:t>Crateri</a:t>
            </a:r>
            <a:endParaRPr lang="it-IT" dirty="0">
              <a:solidFill>
                <a:schemeClr val="tx1"/>
              </a:solidFill>
            </a:endParaRPr>
          </a:p>
        </p:txBody>
      </p:sp>
      <p:sp>
        <p:nvSpPr>
          <p:cNvPr id="3" name="CasellaDiTesto 2"/>
          <p:cNvSpPr txBox="1"/>
          <p:nvPr/>
        </p:nvSpPr>
        <p:spPr>
          <a:xfrm>
            <a:off x="1286748" y="4204126"/>
            <a:ext cx="1587294" cy="830997"/>
          </a:xfrm>
          <a:prstGeom prst="rect">
            <a:avLst/>
          </a:prstGeom>
          <a:noFill/>
        </p:spPr>
        <p:txBody>
          <a:bodyPr wrap="none" rtlCol="0">
            <a:spAutoFit/>
          </a:bodyPr>
          <a:lstStyle/>
          <a:p>
            <a:r>
              <a:rPr lang="it-IT" sz="1200" i="1" dirty="0" err="1"/>
              <a:t>Meteor</a:t>
            </a:r>
            <a:r>
              <a:rPr lang="it-IT" sz="1200" i="1" dirty="0"/>
              <a:t> </a:t>
            </a:r>
            <a:r>
              <a:rPr lang="it-IT" sz="1200" i="1" dirty="0" err="1"/>
              <a:t>Crater</a:t>
            </a:r>
            <a:r>
              <a:rPr lang="it-IT" sz="1200" i="1" dirty="0"/>
              <a:t> (AZ)</a:t>
            </a:r>
          </a:p>
          <a:p>
            <a:r>
              <a:rPr lang="it-IT" sz="1200" b="1" i="1" dirty="0"/>
              <a:t>Diametro</a:t>
            </a:r>
            <a:r>
              <a:rPr lang="it-IT" sz="1200" i="1" dirty="0"/>
              <a:t>:1265 m</a:t>
            </a:r>
          </a:p>
          <a:p>
            <a:r>
              <a:rPr lang="it-IT" sz="1200" b="1" i="1" dirty="0"/>
              <a:t>Scoperto </a:t>
            </a:r>
            <a:r>
              <a:rPr lang="it-IT" sz="1200" i="1" dirty="0"/>
              <a:t>1871</a:t>
            </a:r>
          </a:p>
          <a:p>
            <a:r>
              <a:rPr lang="it-IT" sz="1200" b="1" i="1" dirty="0"/>
              <a:t>Profondità: </a:t>
            </a:r>
            <a:r>
              <a:rPr lang="it-IT" sz="1200" i="1" dirty="0"/>
              <a:t>170 m</a:t>
            </a:r>
          </a:p>
        </p:txBody>
      </p:sp>
      <p:sp>
        <p:nvSpPr>
          <p:cNvPr id="6" name="CasellaDiTesto 5"/>
          <p:cNvSpPr txBox="1"/>
          <p:nvPr/>
        </p:nvSpPr>
        <p:spPr>
          <a:xfrm>
            <a:off x="6269960" y="4125865"/>
            <a:ext cx="1449436" cy="830997"/>
          </a:xfrm>
          <a:prstGeom prst="rect">
            <a:avLst/>
          </a:prstGeom>
          <a:noFill/>
        </p:spPr>
        <p:txBody>
          <a:bodyPr wrap="none" rtlCol="0">
            <a:spAutoFit/>
          </a:bodyPr>
          <a:lstStyle/>
          <a:p>
            <a:r>
              <a:rPr lang="it-IT" sz="1200" i="1" dirty="0"/>
              <a:t>Wolf Creek (AUS)</a:t>
            </a:r>
          </a:p>
          <a:p>
            <a:r>
              <a:rPr lang="it-IT" sz="1200" b="1" i="1" dirty="0"/>
              <a:t>Diametro:</a:t>
            </a:r>
            <a:r>
              <a:rPr lang="it-IT" sz="1200" i="1" dirty="0"/>
              <a:t> 850 m </a:t>
            </a:r>
          </a:p>
          <a:p>
            <a:r>
              <a:rPr lang="it-IT" sz="1200" b="1" i="1" dirty="0"/>
              <a:t>Scoperto:</a:t>
            </a:r>
            <a:r>
              <a:rPr lang="it-IT" sz="1200" i="1" dirty="0"/>
              <a:t> 1947 </a:t>
            </a:r>
          </a:p>
          <a:p>
            <a:r>
              <a:rPr lang="it-IT" sz="1200" b="1" i="1" dirty="0"/>
              <a:t>Profondità</a:t>
            </a:r>
            <a:r>
              <a:rPr lang="it-IT" sz="1200" i="1" dirty="0"/>
              <a:t>: 70 m</a:t>
            </a:r>
          </a:p>
        </p:txBody>
      </p:sp>
      <p:pic>
        <p:nvPicPr>
          <p:cNvPr id="4" name="Immagine 3" descr="800px-Meteor.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55744" y="1067943"/>
            <a:ext cx="4406276" cy="3007614"/>
          </a:xfrm>
          <a:prstGeom prst="rect">
            <a:avLst/>
          </a:prstGeom>
        </p:spPr>
      </p:pic>
      <p:pic>
        <p:nvPicPr>
          <p:cNvPr id="8" name="Immagine 7" descr="800px-Wolfe_creek_crater.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50450" y="1220335"/>
            <a:ext cx="4237806" cy="2855222"/>
          </a:xfrm>
          <a:prstGeom prst="rect">
            <a:avLst/>
          </a:prstGeom>
        </p:spPr>
      </p:pic>
    </p:spTree>
    <p:extLst>
      <p:ext uri="{BB962C8B-B14F-4D97-AF65-F5344CB8AC3E}">
        <p14:creationId xmlns:p14="http://schemas.microsoft.com/office/powerpoint/2010/main" val="2490821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p:cNvSpPr txBox="1"/>
          <p:nvPr/>
        </p:nvSpPr>
        <p:spPr>
          <a:xfrm>
            <a:off x="1430194" y="4500706"/>
            <a:ext cx="1654620" cy="461665"/>
          </a:xfrm>
          <a:prstGeom prst="rect">
            <a:avLst/>
          </a:prstGeom>
          <a:noFill/>
        </p:spPr>
        <p:txBody>
          <a:bodyPr wrap="none" rtlCol="0">
            <a:spAutoFit/>
          </a:bodyPr>
          <a:lstStyle/>
          <a:p>
            <a:r>
              <a:rPr lang="it-IT" sz="1200" i="1" dirty="0" err="1"/>
              <a:t>Hoba</a:t>
            </a:r>
            <a:r>
              <a:rPr lang="it-IT" sz="1200" i="1" dirty="0"/>
              <a:t> West – Africa </a:t>
            </a:r>
          </a:p>
          <a:p>
            <a:r>
              <a:rPr lang="it-IT" sz="1200" b="1" i="1" dirty="0"/>
              <a:t>Peso:</a:t>
            </a:r>
            <a:r>
              <a:rPr lang="it-IT" sz="1200" i="1" dirty="0"/>
              <a:t> 61 t</a:t>
            </a:r>
          </a:p>
        </p:txBody>
      </p:sp>
      <p:sp>
        <p:nvSpPr>
          <p:cNvPr id="6" name="CasellaDiTesto 5"/>
          <p:cNvSpPr txBox="1"/>
          <p:nvPr/>
        </p:nvSpPr>
        <p:spPr>
          <a:xfrm>
            <a:off x="5950885" y="4500706"/>
            <a:ext cx="2056973" cy="461665"/>
          </a:xfrm>
          <a:prstGeom prst="rect">
            <a:avLst/>
          </a:prstGeom>
          <a:noFill/>
        </p:spPr>
        <p:txBody>
          <a:bodyPr wrap="none" rtlCol="0">
            <a:spAutoFit/>
          </a:bodyPr>
          <a:lstStyle/>
          <a:p>
            <a:r>
              <a:rPr lang="it-IT" sz="1200" i="1" dirty="0" err="1"/>
              <a:t>Ahnighito</a:t>
            </a:r>
            <a:r>
              <a:rPr lang="it-IT" sz="1200" i="1" dirty="0"/>
              <a:t> – Groenlandia </a:t>
            </a:r>
          </a:p>
          <a:p>
            <a:r>
              <a:rPr lang="it-IT" sz="1200" b="1" i="1" dirty="0"/>
              <a:t>Peso</a:t>
            </a:r>
            <a:r>
              <a:rPr lang="it-IT" sz="1200" i="1" dirty="0"/>
              <a:t>: 31 t</a:t>
            </a:r>
          </a:p>
        </p:txBody>
      </p:sp>
      <p:pic>
        <p:nvPicPr>
          <p:cNvPr id="5" name="Immagine 4" descr="800px-The_Hoba_Meteorite_near_Grootfontein.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84572" y="1133274"/>
            <a:ext cx="4463803" cy="3347852"/>
          </a:xfrm>
          <a:prstGeom prst="rect">
            <a:avLst/>
          </a:prstGeom>
        </p:spPr>
      </p:pic>
      <p:pic>
        <p:nvPicPr>
          <p:cNvPr id="7" name="Immagine 6" descr="ahnighito600.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99639" y="1135005"/>
            <a:ext cx="4200152" cy="3346121"/>
          </a:xfrm>
          <a:prstGeom prst="rect">
            <a:avLst/>
          </a:prstGeom>
        </p:spPr>
      </p:pic>
      <p:sp>
        <p:nvSpPr>
          <p:cNvPr id="9" name="Titolo 1">
            <a:extLst>
              <a:ext uri="{FF2B5EF4-FFF2-40B4-BE49-F238E27FC236}">
                <a16:creationId xmlns:a16="http://schemas.microsoft.com/office/drawing/2014/main" id="{10B59DDF-803B-4DDB-9D93-5CEBAA23B2ED}"/>
              </a:ext>
            </a:extLst>
          </p:cNvPr>
          <p:cNvSpPr>
            <a:spLocks noGrp="1"/>
          </p:cNvSpPr>
          <p:nvPr>
            <p:ph type="title"/>
          </p:nvPr>
        </p:nvSpPr>
        <p:spPr>
          <a:xfrm>
            <a:off x="0" y="13073"/>
            <a:ext cx="9144000" cy="741455"/>
          </a:xfrm>
        </p:spPr>
        <p:txBody>
          <a:bodyPr>
            <a:normAutofit/>
          </a:bodyPr>
          <a:lstStyle/>
          <a:p>
            <a:pPr algn="ctr"/>
            <a:r>
              <a:rPr lang="it-IT" sz="3200" b="1" dirty="0">
                <a:solidFill>
                  <a:srgbClr val="FFFF00"/>
                </a:solidFill>
              </a:rPr>
              <a:t>Meteoriti</a:t>
            </a:r>
            <a:endParaRPr lang="it-IT" dirty="0">
              <a:solidFill>
                <a:schemeClr val="tx1"/>
              </a:solidFill>
            </a:endParaRPr>
          </a:p>
        </p:txBody>
      </p:sp>
    </p:spTree>
    <p:extLst>
      <p:ext uri="{BB962C8B-B14F-4D97-AF65-F5344CB8AC3E}">
        <p14:creationId xmlns:p14="http://schemas.microsoft.com/office/powerpoint/2010/main" val="244229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C5B981D6-61BA-4F60-A47C-EA7662235D5E}"/>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618604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egnaposto contenuto 2"/>
          <p:cNvSpPr txBox="1">
            <a:spLocks/>
          </p:cNvSpPr>
          <p:nvPr/>
        </p:nvSpPr>
        <p:spPr>
          <a:xfrm>
            <a:off x="188420" y="1258646"/>
            <a:ext cx="1678056" cy="1226883"/>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400" dirty="0">
                <a:solidFill>
                  <a:srgbClr val="FF0000"/>
                </a:solidFill>
              </a:rPr>
              <a:t>APOLLO</a:t>
            </a:r>
          </a:p>
          <a:p>
            <a:r>
              <a:rPr lang="it-IT" sz="1400" dirty="0"/>
              <a:t>1862 Apollo</a:t>
            </a:r>
          </a:p>
          <a:p>
            <a:r>
              <a:rPr lang="it-IT" sz="1400" dirty="0"/>
              <a:t>1866 Sisifo</a:t>
            </a:r>
          </a:p>
          <a:p>
            <a:r>
              <a:rPr lang="it-IT" sz="1400" dirty="0"/>
              <a:t>4179 </a:t>
            </a:r>
            <a:r>
              <a:rPr lang="it-IT" sz="1400" dirty="0" err="1"/>
              <a:t>Toutatis</a:t>
            </a:r>
            <a:endParaRPr lang="it-IT" sz="1400" dirty="0"/>
          </a:p>
        </p:txBody>
      </p:sp>
      <p:pic>
        <p:nvPicPr>
          <p:cNvPr id="6" name="Immagine 5" descr="270px-4179_Toutatis_(Chang'e_2).jp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994820" y="806754"/>
            <a:ext cx="2066382" cy="1920970"/>
          </a:xfrm>
          <a:prstGeom prst="rect">
            <a:avLst/>
          </a:prstGeom>
        </p:spPr>
      </p:pic>
      <p:sp>
        <p:nvSpPr>
          <p:cNvPr id="14" name="Segnaposto contenuto 2"/>
          <p:cNvSpPr txBox="1">
            <a:spLocks/>
          </p:cNvSpPr>
          <p:nvPr/>
        </p:nvSpPr>
        <p:spPr>
          <a:xfrm>
            <a:off x="1588931" y="2753378"/>
            <a:ext cx="2066382" cy="333171"/>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lgn="ctr">
              <a:buNone/>
            </a:pPr>
            <a:r>
              <a:rPr lang="it-IT" sz="1200" dirty="0"/>
              <a:t>Toutatis 5,4 Km</a:t>
            </a:r>
          </a:p>
        </p:txBody>
      </p:sp>
      <p:sp>
        <p:nvSpPr>
          <p:cNvPr id="15" name="Segnaposto contenuto 2"/>
          <p:cNvSpPr txBox="1">
            <a:spLocks/>
          </p:cNvSpPr>
          <p:nvPr/>
        </p:nvSpPr>
        <p:spPr>
          <a:xfrm>
            <a:off x="4426239" y="982558"/>
            <a:ext cx="1810892" cy="1417064"/>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400" dirty="0">
                <a:solidFill>
                  <a:srgbClr val="FF0000"/>
                </a:solidFill>
              </a:rPr>
              <a:t>ATHEN</a:t>
            </a:r>
          </a:p>
          <a:p>
            <a:r>
              <a:rPr lang="it-IT" sz="1400" dirty="0"/>
              <a:t>2062 </a:t>
            </a:r>
            <a:r>
              <a:rPr lang="it-IT" sz="1400" dirty="0" err="1"/>
              <a:t>Athen</a:t>
            </a:r>
            <a:endParaRPr lang="it-IT" sz="1400" dirty="0"/>
          </a:p>
          <a:p>
            <a:r>
              <a:rPr lang="it-IT" sz="1400" dirty="0"/>
              <a:t>2100 </a:t>
            </a:r>
            <a:r>
              <a:rPr lang="it-IT" sz="1400" dirty="0" err="1"/>
              <a:t>Ra</a:t>
            </a:r>
            <a:r>
              <a:rPr lang="it-IT" sz="1400" dirty="0"/>
              <a:t>-Shalom</a:t>
            </a:r>
          </a:p>
          <a:p>
            <a:r>
              <a:rPr lang="it-IT" sz="1400" dirty="0"/>
              <a:t>2340 </a:t>
            </a:r>
            <a:r>
              <a:rPr lang="it-IT" sz="1400" dirty="0" err="1"/>
              <a:t>Hathor</a:t>
            </a:r>
            <a:endParaRPr lang="it-IT" sz="1400" dirty="0"/>
          </a:p>
          <a:p>
            <a:r>
              <a:rPr lang="it-IT" sz="1400" dirty="0"/>
              <a:t>5381 </a:t>
            </a:r>
            <a:r>
              <a:rPr lang="it-IT" sz="1400" dirty="0" err="1"/>
              <a:t>Sekmet</a:t>
            </a:r>
            <a:endParaRPr lang="it-IT" sz="1400" dirty="0"/>
          </a:p>
          <a:p>
            <a:pPr marL="45720" indent="0">
              <a:buNone/>
            </a:pPr>
            <a:endParaRPr lang="it-IT" sz="1600" dirty="0"/>
          </a:p>
        </p:txBody>
      </p:sp>
      <p:pic>
        <p:nvPicPr>
          <p:cNvPr id="8" name="270px-2004MN4_Sormano.gif">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237131" y="658952"/>
            <a:ext cx="2541832" cy="2438276"/>
          </a:xfrm>
          <a:prstGeom prst="rect">
            <a:avLst/>
          </a:prstGeom>
        </p:spPr>
      </p:pic>
      <p:sp>
        <p:nvSpPr>
          <p:cNvPr id="16" name="Segnaposto contenuto 2"/>
          <p:cNvSpPr txBox="1">
            <a:spLocks/>
          </p:cNvSpPr>
          <p:nvPr/>
        </p:nvSpPr>
        <p:spPr>
          <a:xfrm>
            <a:off x="6870338" y="3158774"/>
            <a:ext cx="1491069" cy="275187"/>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200" dirty="0"/>
              <a:t>Apophis – 320 m</a:t>
            </a:r>
          </a:p>
        </p:txBody>
      </p:sp>
      <p:sp>
        <p:nvSpPr>
          <p:cNvPr id="17" name="Segnaposto contenuto 2"/>
          <p:cNvSpPr txBox="1">
            <a:spLocks/>
          </p:cNvSpPr>
          <p:nvPr/>
        </p:nvSpPr>
        <p:spPr>
          <a:xfrm>
            <a:off x="1866476" y="3296368"/>
            <a:ext cx="1388853" cy="1375855"/>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400" dirty="0">
                <a:solidFill>
                  <a:srgbClr val="FF0000"/>
                </a:solidFill>
              </a:rPr>
              <a:t>AMOR</a:t>
            </a:r>
          </a:p>
          <a:p>
            <a:r>
              <a:rPr lang="it-IT" sz="1400" dirty="0"/>
              <a:t>433 Eros</a:t>
            </a:r>
          </a:p>
          <a:p>
            <a:r>
              <a:rPr lang="it-IT" sz="1400" dirty="0"/>
              <a:t>719 Albert</a:t>
            </a:r>
          </a:p>
          <a:p>
            <a:r>
              <a:rPr lang="it-IT" sz="1400" dirty="0"/>
              <a:t>887 Alinda</a:t>
            </a:r>
          </a:p>
          <a:p>
            <a:r>
              <a:rPr lang="it-IT" sz="1400" dirty="0"/>
              <a:t>3908 </a:t>
            </a:r>
            <a:r>
              <a:rPr lang="it-IT" sz="1400" dirty="0" err="1"/>
              <a:t>Nyx</a:t>
            </a:r>
            <a:endParaRPr lang="it-IT" sz="1400" dirty="0"/>
          </a:p>
          <a:p>
            <a:pPr marL="45720" indent="0">
              <a:buNone/>
            </a:pPr>
            <a:endParaRPr lang="it-IT" sz="1600" dirty="0"/>
          </a:p>
        </p:txBody>
      </p:sp>
      <p:pic>
        <p:nvPicPr>
          <p:cNvPr id="10" name="Immagine 9" descr="3908_nyx-s02.jp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05494" y="2905543"/>
            <a:ext cx="2481472" cy="1867246"/>
          </a:xfrm>
          <a:prstGeom prst="rect">
            <a:avLst/>
          </a:prstGeom>
        </p:spPr>
      </p:pic>
      <p:sp>
        <p:nvSpPr>
          <p:cNvPr id="18" name="Segnaposto contenuto 2"/>
          <p:cNvSpPr txBox="1">
            <a:spLocks/>
          </p:cNvSpPr>
          <p:nvPr/>
        </p:nvSpPr>
        <p:spPr>
          <a:xfrm>
            <a:off x="3426054" y="4772788"/>
            <a:ext cx="2732745" cy="268103"/>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200" dirty="0" err="1"/>
              <a:t>Nyx</a:t>
            </a:r>
            <a:r>
              <a:rPr lang="it-IT" sz="1200" dirty="0"/>
              <a:t> (modello al computer – 1 Km)</a:t>
            </a:r>
          </a:p>
        </p:txBody>
      </p:sp>
      <p:sp>
        <p:nvSpPr>
          <p:cNvPr id="12" name="Titolo 1">
            <a:extLst>
              <a:ext uri="{FF2B5EF4-FFF2-40B4-BE49-F238E27FC236}">
                <a16:creationId xmlns:a16="http://schemas.microsoft.com/office/drawing/2014/main" id="{C8F67A9D-E5A8-47F7-9D52-AC497E08408E}"/>
              </a:ext>
            </a:extLst>
          </p:cNvPr>
          <p:cNvSpPr txBox="1">
            <a:spLocks/>
          </p:cNvSpPr>
          <p:nvPr/>
        </p:nvSpPr>
        <p:spPr>
          <a:xfrm>
            <a:off x="0" y="49032"/>
            <a:ext cx="9144000"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Quiz</a:t>
            </a:r>
            <a:endParaRPr lang="it-IT" dirty="0">
              <a:solidFill>
                <a:schemeClr val="tx1"/>
              </a:solidFill>
            </a:endParaRPr>
          </a:p>
        </p:txBody>
      </p:sp>
    </p:spTree>
    <p:extLst>
      <p:ext uri="{BB962C8B-B14F-4D97-AF65-F5344CB8AC3E}">
        <p14:creationId xmlns:p14="http://schemas.microsoft.com/office/powerpoint/2010/main" val="201498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8"/>
                </p:tgtEl>
              </p:cMediaNode>
            </p:video>
          </p:childTnLst>
        </p:cTn>
      </p:par>
    </p:tnLst>
    <p:bldLst>
      <p:bldP spid="9"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D40E2B57-2DAA-424C-8A04-524771BB14E0}"/>
              </a:ext>
            </a:extLst>
          </p:cNvPr>
          <p:cNvSpPr txBox="1">
            <a:spLocks/>
          </p:cNvSpPr>
          <p:nvPr/>
        </p:nvSpPr>
        <p:spPr>
          <a:xfrm>
            <a:off x="0" y="39597"/>
            <a:ext cx="9144000" cy="741455"/>
          </a:xfrm>
          <a:prstGeom prst="rect">
            <a:avLst/>
          </a:prstGeom>
        </p:spPr>
        <p:txBody>
          <a:bodyPr vert="horz" lIns="91440" tIns="45720" rIns="91440" bIns="45720" rtlCol="0" anchor="t">
            <a:normAutofit fontScale="92500"/>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NEA: che dimensioni hanno quelli </a:t>
            </a:r>
            <a:r>
              <a:rPr lang="it-IT" sz="3200" b="1" u="sng" dirty="0">
                <a:solidFill>
                  <a:srgbClr val="FFFF00"/>
                </a:solidFill>
              </a:rPr>
              <a:t>conosciuti</a:t>
            </a:r>
            <a:r>
              <a:rPr lang="it-IT" sz="3200" b="1" dirty="0">
                <a:solidFill>
                  <a:srgbClr val="FFFF00"/>
                </a:solidFill>
              </a:rPr>
              <a:t>?</a:t>
            </a:r>
            <a:endParaRPr lang="it-IT" dirty="0">
              <a:solidFill>
                <a:schemeClr val="tx1"/>
              </a:solidFill>
            </a:endParaRPr>
          </a:p>
        </p:txBody>
      </p:sp>
      <p:sp>
        <p:nvSpPr>
          <p:cNvPr id="15" name="Rettangolo 14">
            <a:extLst>
              <a:ext uri="{FF2B5EF4-FFF2-40B4-BE49-F238E27FC236}">
                <a16:creationId xmlns:a16="http://schemas.microsoft.com/office/drawing/2014/main" id="{F06C6D17-F20E-4C57-944A-B8F41ADD21C2}"/>
              </a:ext>
            </a:extLst>
          </p:cNvPr>
          <p:cNvSpPr/>
          <p:nvPr/>
        </p:nvSpPr>
        <p:spPr>
          <a:xfrm>
            <a:off x="224185" y="3910775"/>
            <a:ext cx="4732085" cy="276999"/>
          </a:xfrm>
          <a:prstGeom prst="rect">
            <a:avLst/>
          </a:prstGeom>
        </p:spPr>
        <p:txBody>
          <a:bodyPr wrap="square">
            <a:spAutoFit/>
          </a:bodyPr>
          <a:lstStyle/>
          <a:p>
            <a:pPr algn="ctr"/>
            <a:r>
              <a:rPr lang="it-IT" sz="1200" dirty="0">
                <a:hlinkClick r:id="rId3"/>
              </a:rPr>
              <a:t>https://cneos.jpl.nasa.gov/stats/size.html</a:t>
            </a:r>
            <a:endParaRPr lang="it-IT" sz="1200" dirty="0"/>
          </a:p>
        </p:txBody>
      </p:sp>
      <p:pic>
        <p:nvPicPr>
          <p:cNvPr id="3" name="Immagine 2">
            <a:extLst>
              <a:ext uri="{FF2B5EF4-FFF2-40B4-BE49-F238E27FC236}">
                <a16:creationId xmlns:a16="http://schemas.microsoft.com/office/drawing/2014/main" id="{3B4E3669-83BC-4BCC-8348-C635451396A4}"/>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24185" y="696116"/>
            <a:ext cx="4732085" cy="3154724"/>
          </a:xfrm>
          <a:prstGeom prst="rect">
            <a:avLst/>
          </a:prstGeom>
        </p:spPr>
      </p:pic>
      <p:sp>
        <p:nvSpPr>
          <p:cNvPr id="8" name="Segnaposto contenuto 2">
            <a:extLst>
              <a:ext uri="{FF2B5EF4-FFF2-40B4-BE49-F238E27FC236}">
                <a16:creationId xmlns:a16="http://schemas.microsoft.com/office/drawing/2014/main" id="{8CCEC66B-4EF0-4938-A266-0F93D821D63E}"/>
              </a:ext>
            </a:extLst>
          </p:cNvPr>
          <p:cNvSpPr txBox="1">
            <a:spLocks/>
          </p:cNvSpPr>
          <p:nvPr/>
        </p:nvSpPr>
        <p:spPr>
          <a:xfrm>
            <a:off x="224185" y="4301019"/>
            <a:ext cx="8539696" cy="657336"/>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800" i="1" dirty="0"/>
              <a:t>Dati ottenuti con </a:t>
            </a:r>
            <a:r>
              <a:rPr lang="it-IT" sz="1800" i="1" dirty="0">
                <a:solidFill>
                  <a:srgbClr val="FFFF00"/>
                </a:solidFill>
              </a:rPr>
              <a:t>analisi diretta </a:t>
            </a:r>
            <a:r>
              <a:rPr lang="it-IT" sz="1800" i="1" dirty="0"/>
              <a:t>(occultazioni, osservazioni radar) o </a:t>
            </a:r>
            <a:r>
              <a:rPr lang="it-IT" sz="1800" i="1" dirty="0">
                <a:solidFill>
                  <a:srgbClr val="FFFF00"/>
                </a:solidFill>
              </a:rPr>
              <a:t>indiretta</a:t>
            </a:r>
            <a:r>
              <a:rPr lang="it-IT" sz="1800" i="1" dirty="0"/>
              <a:t> </a:t>
            </a:r>
            <a:r>
              <a:rPr lang="it-IT" sz="1800" dirty="0"/>
              <a:t> (studio della luminosità ed albedo)</a:t>
            </a:r>
          </a:p>
        </p:txBody>
      </p:sp>
      <p:sp>
        <p:nvSpPr>
          <p:cNvPr id="2" name="Rettangolo 1">
            <a:extLst>
              <a:ext uri="{FF2B5EF4-FFF2-40B4-BE49-F238E27FC236}">
                <a16:creationId xmlns:a16="http://schemas.microsoft.com/office/drawing/2014/main" id="{C4189686-C129-40A9-860A-482CCBE8C51B}"/>
              </a:ext>
            </a:extLst>
          </p:cNvPr>
          <p:cNvSpPr/>
          <p:nvPr/>
        </p:nvSpPr>
        <p:spPr>
          <a:xfrm rot="10800000" flipV="1">
            <a:off x="5231957" y="3880000"/>
            <a:ext cx="3609891" cy="261610"/>
          </a:xfrm>
          <a:prstGeom prst="rect">
            <a:avLst/>
          </a:prstGeom>
        </p:spPr>
        <p:txBody>
          <a:bodyPr wrap="square">
            <a:spAutoFit/>
          </a:bodyPr>
          <a:lstStyle/>
          <a:p>
            <a:r>
              <a:rPr lang="it-IT" sz="1100" dirty="0">
                <a:hlinkClick r:id="rId5"/>
              </a:rPr>
              <a:t>https://cneos.jpl.nasa.gov/tools/ast_size_est.html</a:t>
            </a:r>
            <a:endParaRPr lang="it-IT" sz="1100" dirty="0"/>
          </a:p>
        </p:txBody>
      </p:sp>
      <p:pic>
        <p:nvPicPr>
          <p:cNvPr id="5" name="Immagine 4">
            <a:extLst>
              <a:ext uri="{FF2B5EF4-FFF2-40B4-BE49-F238E27FC236}">
                <a16:creationId xmlns:a16="http://schemas.microsoft.com/office/drawing/2014/main" id="{59172D5C-C2E7-46E0-8BAE-ADF57F1D8F95}"/>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5451591" y="758786"/>
            <a:ext cx="2936967" cy="3092054"/>
          </a:xfrm>
          <a:prstGeom prst="rect">
            <a:avLst/>
          </a:prstGeom>
        </p:spPr>
      </p:pic>
    </p:spTree>
    <p:extLst>
      <p:ext uri="{BB962C8B-B14F-4D97-AF65-F5344CB8AC3E}">
        <p14:creationId xmlns:p14="http://schemas.microsoft.com/office/powerpoint/2010/main" val="412061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magine 17">
            <a:extLst>
              <a:ext uri="{FF2B5EF4-FFF2-40B4-BE49-F238E27FC236}">
                <a16:creationId xmlns:a16="http://schemas.microsoft.com/office/drawing/2014/main" id="{57F156EF-1158-402C-BA57-2B7A1674EA4D}"/>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140" y="0"/>
            <a:ext cx="9137720" cy="5143500"/>
          </a:xfrm>
          <a:prstGeom prst="rect">
            <a:avLst/>
          </a:prstGeom>
        </p:spPr>
      </p:pic>
      <p:sp>
        <p:nvSpPr>
          <p:cNvPr id="10" name="Segnaposto contenuto 2"/>
          <p:cNvSpPr txBox="1">
            <a:spLocks/>
          </p:cNvSpPr>
          <p:nvPr/>
        </p:nvSpPr>
        <p:spPr>
          <a:xfrm>
            <a:off x="203557" y="792390"/>
            <a:ext cx="8701903" cy="418343"/>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400" b="1" i="1" dirty="0" err="1">
                <a:solidFill>
                  <a:srgbClr val="FF0000"/>
                </a:solidFill>
              </a:rPr>
              <a:t>Potentially</a:t>
            </a:r>
            <a:r>
              <a:rPr lang="it-IT" sz="1400" b="1" i="1" dirty="0">
                <a:solidFill>
                  <a:srgbClr val="FF0000"/>
                </a:solidFill>
              </a:rPr>
              <a:t> </a:t>
            </a:r>
            <a:r>
              <a:rPr lang="it-IT" sz="1400" b="1" i="1" dirty="0" err="1">
                <a:solidFill>
                  <a:srgbClr val="FF0000"/>
                </a:solidFill>
              </a:rPr>
              <a:t>Hazardous</a:t>
            </a:r>
            <a:r>
              <a:rPr lang="it-IT" sz="1400" b="1" i="1" dirty="0">
                <a:solidFill>
                  <a:srgbClr val="FF0000"/>
                </a:solidFill>
              </a:rPr>
              <a:t> </a:t>
            </a:r>
            <a:r>
              <a:rPr lang="it-IT" sz="1400" b="1" i="1" dirty="0" err="1">
                <a:solidFill>
                  <a:srgbClr val="FF0000"/>
                </a:solidFill>
              </a:rPr>
              <a:t>Asteroid</a:t>
            </a:r>
            <a:r>
              <a:rPr lang="it-IT" sz="1400" dirty="0"/>
              <a:t>: sono NEA che hanno un  alto potenziale di approccio ravvicinato </a:t>
            </a:r>
          </a:p>
        </p:txBody>
      </p:sp>
      <p:sp>
        <p:nvSpPr>
          <p:cNvPr id="12" name="Titolo 1">
            <a:extLst>
              <a:ext uri="{FF2B5EF4-FFF2-40B4-BE49-F238E27FC236}">
                <a16:creationId xmlns:a16="http://schemas.microsoft.com/office/drawing/2014/main" id="{D40E2B57-2DAA-424C-8A04-524771BB14E0}"/>
              </a:ext>
            </a:extLst>
          </p:cNvPr>
          <p:cNvSpPr txBox="1">
            <a:spLocks/>
          </p:cNvSpPr>
          <p:nvPr/>
        </p:nvSpPr>
        <p:spPr>
          <a:xfrm>
            <a:off x="0" y="39597"/>
            <a:ext cx="9144000"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E quelli pericolosi ?</a:t>
            </a:r>
            <a:endParaRPr lang="it-IT" dirty="0">
              <a:solidFill>
                <a:schemeClr val="tx1"/>
              </a:solidFill>
            </a:endParaRPr>
          </a:p>
        </p:txBody>
      </p:sp>
      <p:sp>
        <p:nvSpPr>
          <p:cNvPr id="4" name="Rettangolo 3">
            <a:extLst>
              <a:ext uri="{FF2B5EF4-FFF2-40B4-BE49-F238E27FC236}">
                <a16:creationId xmlns:a16="http://schemas.microsoft.com/office/drawing/2014/main" id="{9D946DD4-BCB9-49A7-855F-32C35E89E2A3}"/>
              </a:ext>
            </a:extLst>
          </p:cNvPr>
          <p:cNvSpPr/>
          <p:nvPr/>
        </p:nvSpPr>
        <p:spPr>
          <a:xfrm>
            <a:off x="166978" y="4522663"/>
            <a:ext cx="8738481" cy="584775"/>
          </a:xfrm>
          <a:prstGeom prst="rect">
            <a:avLst/>
          </a:prstGeom>
        </p:spPr>
        <p:txBody>
          <a:bodyPr wrap="square">
            <a:spAutoFit/>
          </a:bodyPr>
          <a:lstStyle/>
          <a:p>
            <a:r>
              <a:rPr lang="en-US" sz="1600" dirty="0" err="1"/>
              <a:t>Tutti</a:t>
            </a:r>
            <a:r>
              <a:rPr lang="en-US" sz="1600" dirty="0"/>
              <a:t> </a:t>
            </a:r>
            <a:r>
              <a:rPr lang="en-US" sz="1600" dirty="0" err="1"/>
              <a:t>gli</a:t>
            </a:r>
            <a:r>
              <a:rPr lang="en-US" sz="1600" dirty="0"/>
              <a:t> asteroid con </a:t>
            </a:r>
            <a:r>
              <a:rPr lang="en-US" sz="1600" b="1" i="1" dirty="0">
                <a:solidFill>
                  <a:srgbClr val="FF0000"/>
                </a:solidFill>
              </a:rPr>
              <a:t>MOID</a:t>
            </a:r>
            <a:r>
              <a:rPr lang="en-US" sz="1600" dirty="0"/>
              <a:t> (Minimum Orbit Intersection Distance) ≤ 0.05 </a:t>
            </a:r>
            <a:r>
              <a:rPr lang="en-US" sz="1600" dirty="0" err="1"/>
              <a:t>u.a.</a:t>
            </a:r>
            <a:r>
              <a:rPr lang="en-US" sz="1600" dirty="0"/>
              <a:t> e una </a:t>
            </a:r>
            <a:r>
              <a:rPr lang="en-US" sz="1600" dirty="0" err="1"/>
              <a:t>magnitudine</a:t>
            </a:r>
            <a:r>
              <a:rPr lang="en-US" sz="1600" dirty="0"/>
              <a:t> assoluta (H) ≤ 22 </a:t>
            </a:r>
            <a:r>
              <a:rPr lang="en-US" sz="1600" dirty="0" err="1"/>
              <a:t>sono</a:t>
            </a:r>
            <a:r>
              <a:rPr lang="en-US" sz="1600" dirty="0"/>
              <a:t> </a:t>
            </a:r>
            <a:r>
              <a:rPr lang="en-US" sz="1600" dirty="0" err="1"/>
              <a:t>considerati</a:t>
            </a:r>
            <a:r>
              <a:rPr lang="en-US" sz="1600" dirty="0"/>
              <a:t> </a:t>
            </a:r>
            <a:r>
              <a:rPr lang="en-US" sz="1600" dirty="0">
                <a:solidFill>
                  <a:srgbClr val="FFFF00"/>
                </a:solidFill>
              </a:rPr>
              <a:t>PHA</a:t>
            </a:r>
            <a:endParaRPr lang="it-IT" sz="1600" dirty="0">
              <a:solidFill>
                <a:srgbClr val="FFFF00"/>
              </a:solidFill>
            </a:endParaRPr>
          </a:p>
        </p:txBody>
      </p:sp>
      <p:sp>
        <p:nvSpPr>
          <p:cNvPr id="19" name="Rettangolo 18">
            <a:extLst>
              <a:ext uri="{FF2B5EF4-FFF2-40B4-BE49-F238E27FC236}">
                <a16:creationId xmlns:a16="http://schemas.microsoft.com/office/drawing/2014/main" id="{DC62205F-4598-4593-90C2-6F8345EFD81A}"/>
              </a:ext>
            </a:extLst>
          </p:cNvPr>
          <p:cNvSpPr/>
          <p:nvPr/>
        </p:nvSpPr>
        <p:spPr>
          <a:xfrm>
            <a:off x="163838" y="4280817"/>
            <a:ext cx="4276847" cy="246221"/>
          </a:xfrm>
          <a:prstGeom prst="rect">
            <a:avLst/>
          </a:prstGeom>
        </p:spPr>
        <p:txBody>
          <a:bodyPr wrap="square">
            <a:spAutoFit/>
          </a:bodyPr>
          <a:lstStyle/>
          <a:p>
            <a:r>
              <a:rPr lang="it-IT" sz="1000" dirty="0">
                <a:hlinkClick r:id="rId4"/>
              </a:rPr>
              <a:t>https://www.jpl.nasa.gov/spaceimages/details.php?id=PIA17041</a:t>
            </a:r>
            <a:endParaRPr lang="it-IT" sz="1000" dirty="0"/>
          </a:p>
        </p:txBody>
      </p:sp>
    </p:spTree>
    <p:extLst>
      <p:ext uri="{BB962C8B-B14F-4D97-AF65-F5344CB8AC3E}">
        <p14:creationId xmlns:p14="http://schemas.microsoft.com/office/powerpoint/2010/main" val="3695670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D40E2B57-2DAA-424C-8A04-524771BB14E0}"/>
              </a:ext>
            </a:extLst>
          </p:cNvPr>
          <p:cNvSpPr txBox="1">
            <a:spLocks/>
          </p:cNvSpPr>
          <p:nvPr/>
        </p:nvSpPr>
        <p:spPr>
          <a:xfrm>
            <a:off x="0" y="39597"/>
            <a:ext cx="9144000"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a:solidFill>
                  <a:srgbClr val="FFFF00"/>
                </a:solidFill>
              </a:rPr>
              <a:t>Survey</a:t>
            </a:r>
            <a:endParaRPr lang="it-IT" dirty="0">
              <a:solidFill>
                <a:schemeClr val="tx1"/>
              </a:solidFill>
            </a:endParaRPr>
          </a:p>
        </p:txBody>
      </p:sp>
      <p:pic>
        <p:nvPicPr>
          <p:cNvPr id="4" name="Immagine 3">
            <a:extLst>
              <a:ext uri="{FF2B5EF4-FFF2-40B4-BE49-F238E27FC236}">
                <a16:creationId xmlns:a16="http://schemas.microsoft.com/office/drawing/2014/main" id="{EBEC36E9-2D2A-4993-84D2-5F1EB5654D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133" y="781051"/>
            <a:ext cx="8871423" cy="4078815"/>
          </a:xfrm>
          <a:prstGeom prst="rect">
            <a:avLst/>
          </a:prstGeom>
        </p:spPr>
      </p:pic>
    </p:spTree>
    <p:extLst>
      <p:ext uri="{BB962C8B-B14F-4D97-AF65-F5344CB8AC3E}">
        <p14:creationId xmlns:p14="http://schemas.microsoft.com/office/powerpoint/2010/main" val="2240425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D40E2B57-2DAA-424C-8A04-524771BB14E0}"/>
              </a:ext>
            </a:extLst>
          </p:cNvPr>
          <p:cNvSpPr txBox="1">
            <a:spLocks/>
          </p:cNvSpPr>
          <p:nvPr/>
        </p:nvSpPr>
        <p:spPr>
          <a:xfrm>
            <a:off x="0" y="39597"/>
            <a:ext cx="9144000"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NEA: quanti sono quelli </a:t>
            </a:r>
            <a:r>
              <a:rPr lang="it-IT" sz="3200" b="1" u="sng" dirty="0">
                <a:solidFill>
                  <a:srgbClr val="FFFF00"/>
                </a:solidFill>
              </a:rPr>
              <a:t>conosciuti</a:t>
            </a:r>
            <a:r>
              <a:rPr lang="it-IT" sz="3200" b="1" dirty="0">
                <a:solidFill>
                  <a:srgbClr val="FFFF00"/>
                </a:solidFill>
              </a:rPr>
              <a:t>?</a:t>
            </a:r>
            <a:endParaRPr lang="it-IT" dirty="0">
              <a:solidFill>
                <a:schemeClr val="tx1"/>
              </a:solidFill>
            </a:endParaRPr>
          </a:p>
        </p:txBody>
      </p:sp>
      <p:pic>
        <p:nvPicPr>
          <p:cNvPr id="6" name="Immagine 5">
            <a:extLst>
              <a:ext uri="{FF2B5EF4-FFF2-40B4-BE49-F238E27FC236}">
                <a16:creationId xmlns:a16="http://schemas.microsoft.com/office/drawing/2014/main" id="{15FA05B2-D3C2-44E6-9220-2AE35A86CFD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480093" y="665445"/>
            <a:ext cx="6172819" cy="4115213"/>
          </a:xfrm>
          <a:prstGeom prst="rect">
            <a:avLst/>
          </a:prstGeom>
        </p:spPr>
      </p:pic>
      <p:sp>
        <p:nvSpPr>
          <p:cNvPr id="15" name="Rettangolo 14">
            <a:extLst>
              <a:ext uri="{FF2B5EF4-FFF2-40B4-BE49-F238E27FC236}">
                <a16:creationId xmlns:a16="http://schemas.microsoft.com/office/drawing/2014/main" id="{F06C6D17-F20E-4C57-944A-B8F41ADD21C2}"/>
              </a:ext>
            </a:extLst>
          </p:cNvPr>
          <p:cNvSpPr/>
          <p:nvPr/>
        </p:nvSpPr>
        <p:spPr>
          <a:xfrm>
            <a:off x="1918404" y="4780658"/>
            <a:ext cx="5134403" cy="276999"/>
          </a:xfrm>
          <a:prstGeom prst="rect">
            <a:avLst/>
          </a:prstGeom>
        </p:spPr>
        <p:txBody>
          <a:bodyPr wrap="square">
            <a:spAutoFit/>
          </a:bodyPr>
          <a:lstStyle/>
          <a:p>
            <a:pPr algn="ctr"/>
            <a:r>
              <a:rPr lang="it-IT" sz="1200" dirty="0">
                <a:hlinkClick r:id="rId4"/>
              </a:rPr>
              <a:t>https://cneos.jpl.nasa.gov/stats/totals.html</a:t>
            </a:r>
            <a:endParaRPr lang="it-IT" sz="1200" dirty="0"/>
          </a:p>
        </p:txBody>
      </p:sp>
    </p:spTree>
    <p:extLst>
      <p:ext uri="{BB962C8B-B14F-4D97-AF65-F5344CB8AC3E}">
        <p14:creationId xmlns:p14="http://schemas.microsoft.com/office/powerpoint/2010/main" val="2832088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D40E2B57-2DAA-424C-8A04-524771BB14E0}"/>
              </a:ext>
            </a:extLst>
          </p:cNvPr>
          <p:cNvSpPr txBox="1">
            <a:spLocks/>
          </p:cNvSpPr>
          <p:nvPr/>
        </p:nvSpPr>
        <p:spPr>
          <a:xfrm>
            <a:off x="0" y="39597"/>
            <a:ext cx="9144000"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Incontri passati</a:t>
            </a:r>
            <a:endParaRPr lang="it-IT" dirty="0">
              <a:solidFill>
                <a:schemeClr val="tx1"/>
              </a:solidFill>
            </a:endParaRPr>
          </a:p>
        </p:txBody>
      </p:sp>
      <p:pic>
        <p:nvPicPr>
          <p:cNvPr id="5" name="Immagine 4">
            <a:extLst>
              <a:ext uri="{FF2B5EF4-FFF2-40B4-BE49-F238E27FC236}">
                <a16:creationId xmlns:a16="http://schemas.microsoft.com/office/drawing/2014/main" id="{0FFC245B-32A0-4C3C-8E28-3524588FDB5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910" y="612743"/>
            <a:ext cx="9027855" cy="4374036"/>
          </a:xfrm>
          <a:prstGeom prst="rect">
            <a:avLst/>
          </a:prstGeom>
        </p:spPr>
      </p:pic>
    </p:spTree>
    <p:extLst>
      <p:ext uri="{BB962C8B-B14F-4D97-AF65-F5344CB8AC3E}">
        <p14:creationId xmlns:p14="http://schemas.microsoft.com/office/powerpoint/2010/main" val="37808055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olo 1">
            <a:extLst>
              <a:ext uri="{FF2B5EF4-FFF2-40B4-BE49-F238E27FC236}">
                <a16:creationId xmlns:a16="http://schemas.microsoft.com/office/drawing/2014/main" id="{B3010FC5-4182-4370-928E-111987F2B0BF}"/>
              </a:ext>
            </a:extLst>
          </p:cNvPr>
          <p:cNvSpPr txBox="1">
            <a:spLocks/>
          </p:cNvSpPr>
          <p:nvPr/>
        </p:nvSpPr>
        <p:spPr>
          <a:xfrm>
            <a:off x="-53913" y="56926"/>
            <a:ext cx="9144000"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Incontri futuri</a:t>
            </a:r>
            <a:endParaRPr lang="it-IT" dirty="0">
              <a:solidFill>
                <a:schemeClr val="tx1"/>
              </a:solidFill>
            </a:endParaRPr>
          </a:p>
        </p:txBody>
      </p:sp>
      <p:graphicFrame>
        <p:nvGraphicFramePr>
          <p:cNvPr id="2" name="Tabella 1">
            <a:extLst>
              <a:ext uri="{FF2B5EF4-FFF2-40B4-BE49-F238E27FC236}">
                <a16:creationId xmlns:a16="http://schemas.microsoft.com/office/drawing/2014/main" id="{EB553838-F02B-4058-A311-231A195CF1A1}"/>
              </a:ext>
            </a:extLst>
          </p:cNvPr>
          <p:cNvGraphicFramePr>
            <a:graphicFrameLocks noGrp="1"/>
          </p:cNvGraphicFramePr>
          <p:nvPr>
            <p:extLst>
              <p:ext uri="{D42A27DB-BD31-4B8C-83A1-F6EECF244321}">
                <p14:modId xmlns:p14="http://schemas.microsoft.com/office/powerpoint/2010/main" val="2692824020"/>
              </p:ext>
            </p:extLst>
          </p:nvPr>
        </p:nvGraphicFramePr>
        <p:xfrm>
          <a:off x="1296062" y="2138901"/>
          <a:ext cx="6734755" cy="2211070"/>
        </p:xfrm>
        <a:graphic>
          <a:graphicData uri="http://schemas.openxmlformats.org/drawingml/2006/table">
            <a:tbl>
              <a:tblPr firstRow="1" bandRow="1">
                <a:tableStyleId>{5C22544A-7EE6-4342-B048-85BDC9FD1C3A}</a:tableStyleId>
              </a:tblPr>
              <a:tblGrid>
                <a:gridCol w="1719428">
                  <a:extLst>
                    <a:ext uri="{9D8B030D-6E8A-4147-A177-3AD203B41FA5}">
                      <a16:colId xmlns:a16="http://schemas.microsoft.com/office/drawing/2014/main" val="1615193757"/>
                    </a:ext>
                  </a:extLst>
                </a:gridCol>
                <a:gridCol w="3025874">
                  <a:extLst>
                    <a:ext uri="{9D8B030D-6E8A-4147-A177-3AD203B41FA5}">
                      <a16:colId xmlns:a16="http://schemas.microsoft.com/office/drawing/2014/main" val="1879308827"/>
                    </a:ext>
                  </a:extLst>
                </a:gridCol>
                <a:gridCol w="1989453">
                  <a:extLst>
                    <a:ext uri="{9D8B030D-6E8A-4147-A177-3AD203B41FA5}">
                      <a16:colId xmlns:a16="http://schemas.microsoft.com/office/drawing/2014/main" val="1947316111"/>
                    </a:ext>
                  </a:extLst>
                </a:gridCol>
              </a:tblGrid>
              <a:tr h="442214">
                <a:tc>
                  <a:txBody>
                    <a:bodyPr/>
                    <a:lstStyle/>
                    <a:p>
                      <a:pPr algn="ctr"/>
                      <a:r>
                        <a:rPr lang="it-IT" dirty="0"/>
                        <a:t>Nome</a:t>
                      </a:r>
                    </a:p>
                  </a:txBody>
                  <a:tcPr anchor="ctr"/>
                </a:tc>
                <a:tc>
                  <a:txBody>
                    <a:bodyPr/>
                    <a:lstStyle/>
                    <a:p>
                      <a:pPr algn="ctr"/>
                      <a:r>
                        <a:rPr lang="it-IT" dirty="0"/>
                        <a:t>Data del passaggio</a:t>
                      </a:r>
                    </a:p>
                  </a:txBody>
                  <a:tcPr anchor="ctr"/>
                </a:tc>
                <a:tc>
                  <a:txBody>
                    <a:bodyPr/>
                    <a:lstStyle/>
                    <a:p>
                      <a:pPr algn="ctr"/>
                      <a:r>
                        <a:rPr lang="it-IT" dirty="0"/>
                        <a:t>Distanza (Km)</a:t>
                      </a:r>
                    </a:p>
                  </a:txBody>
                  <a:tcPr anchor="ctr"/>
                </a:tc>
                <a:extLst>
                  <a:ext uri="{0D108BD9-81ED-4DB2-BD59-A6C34878D82A}">
                    <a16:rowId xmlns:a16="http://schemas.microsoft.com/office/drawing/2014/main" val="2759293837"/>
                  </a:ext>
                </a:extLst>
              </a:tr>
              <a:tr h="442214">
                <a:tc>
                  <a:txBody>
                    <a:bodyPr/>
                    <a:lstStyle/>
                    <a:p>
                      <a:pPr algn="ctr"/>
                      <a:r>
                        <a:rPr lang="it-IT" dirty="0" err="1"/>
                        <a:t>Apophis</a:t>
                      </a:r>
                      <a:endParaRPr lang="it-IT" dirty="0"/>
                    </a:p>
                  </a:txBody>
                  <a:tcPr anchor="ctr"/>
                </a:tc>
                <a:tc>
                  <a:txBody>
                    <a:bodyPr/>
                    <a:lstStyle/>
                    <a:p>
                      <a:pPr algn="ctr"/>
                      <a:r>
                        <a:rPr lang="it-IT" dirty="0"/>
                        <a:t>Venerdì 13 Aprile 2029</a:t>
                      </a:r>
                    </a:p>
                  </a:txBody>
                  <a:tcPr anchor="ctr"/>
                </a:tc>
                <a:tc>
                  <a:txBody>
                    <a:bodyPr/>
                    <a:lstStyle/>
                    <a:p>
                      <a:pPr algn="ctr"/>
                      <a:r>
                        <a:rPr lang="it-IT" dirty="0"/>
                        <a:t>37.500</a:t>
                      </a:r>
                    </a:p>
                  </a:txBody>
                  <a:tcPr anchor="ctr"/>
                </a:tc>
                <a:extLst>
                  <a:ext uri="{0D108BD9-81ED-4DB2-BD59-A6C34878D82A}">
                    <a16:rowId xmlns:a16="http://schemas.microsoft.com/office/drawing/2014/main" val="1893565290"/>
                  </a:ext>
                </a:extLst>
              </a:tr>
              <a:tr h="442214">
                <a:tc>
                  <a:txBody>
                    <a:bodyPr/>
                    <a:lstStyle/>
                    <a:p>
                      <a:pPr algn="ctr"/>
                      <a:r>
                        <a:rPr lang="it-IT" dirty="0"/>
                        <a:t>2000 WO107</a:t>
                      </a:r>
                    </a:p>
                  </a:txBody>
                  <a:tcPr anchor="ctr"/>
                </a:tc>
                <a:tc>
                  <a:txBody>
                    <a:bodyPr/>
                    <a:lstStyle/>
                    <a:p>
                      <a:pPr algn="ctr"/>
                      <a:r>
                        <a:rPr lang="it-IT" dirty="0"/>
                        <a:t>Sabato 1 Dicembre 2040</a:t>
                      </a:r>
                    </a:p>
                  </a:txBody>
                  <a:tcPr anchor="ctr"/>
                </a:tc>
                <a:tc>
                  <a:txBody>
                    <a:bodyPr/>
                    <a:lstStyle/>
                    <a:p>
                      <a:pPr algn="ctr"/>
                      <a:r>
                        <a:rPr lang="it-IT" dirty="0"/>
                        <a:t>243.000</a:t>
                      </a:r>
                    </a:p>
                  </a:txBody>
                  <a:tcPr anchor="ctr"/>
                </a:tc>
                <a:extLst>
                  <a:ext uri="{0D108BD9-81ED-4DB2-BD59-A6C34878D82A}">
                    <a16:rowId xmlns:a16="http://schemas.microsoft.com/office/drawing/2014/main" val="2326972667"/>
                  </a:ext>
                </a:extLst>
              </a:tr>
              <a:tr h="442214">
                <a:tc>
                  <a:txBody>
                    <a:bodyPr/>
                    <a:lstStyle/>
                    <a:p>
                      <a:pPr algn="ctr"/>
                      <a:r>
                        <a:rPr lang="it-IT" dirty="0"/>
                        <a:t>2001 WNS</a:t>
                      </a:r>
                    </a:p>
                  </a:txBody>
                  <a:tcPr anchor="ctr"/>
                </a:tc>
                <a:tc>
                  <a:txBody>
                    <a:bodyPr/>
                    <a:lstStyle/>
                    <a:p>
                      <a:pPr algn="ctr"/>
                      <a:r>
                        <a:rPr lang="it-IT" dirty="0"/>
                        <a:t>26 Giugno 2028</a:t>
                      </a:r>
                    </a:p>
                  </a:txBody>
                  <a:tcPr anchor="ctr"/>
                </a:tc>
                <a:tc>
                  <a:txBody>
                    <a:bodyPr/>
                    <a:lstStyle/>
                    <a:p>
                      <a:pPr algn="ctr"/>
                      <a:r>
                        <a:rPr lang="it-IT" dirty="0"/>
                        <a:t>250.000</a:t>
                      </a:r>
                    </a:p>
                  </a:txBody>
                  <a:tcPr anchor="ctr"/>
                </a:tc>
                <a:extLst>
                  <a:ext uri="{0D108BD9-81ED-4DB2-BD59-A6C34878D82A}">
                    <a16:rowId xmlns:a16="http://schemas.microsoft.com/office/drawing/2014/main" val="2693885994"/>
                  </a:ext>
                </a:extLst>
              </a:tr>
              <a:tr h="442214">
                <a:tc>
                  <a:txBody>
                    <a:bodyPr/>
                    <a:lstStyle/>
                    <a:p>
                      <a:pPr algn="ctr"/>
                      <a:r>
                        <a:rPr lang="it-IT" dirty="0"/>
                        <a:t>1998 OX4</a:t>
                      </a:r>
                    </a:p>
                  </a:txBody>
                  <a:tcPr anchor="ctr"/>
                </a:tc>
                <a:tc>
                  <a:txBody>
                    <a:bodyPr/>
                    <a:lstStyle/>
                    <a:p>
                      <a:pPr algn="ctr"/>
                      <a:r>
                        <a:rPr lang="it-IT" dirty="0"/>
                        <a:t>22 Gennaio 2148</a:t>
                      </a:r>
                    </a:p>
                  </a:txBody>
                  <a:tcPr anchor="ctr"/>
                </a:tc>
                <a:tc>
                  <a:txBody>
                    <a:bodyPr/>
                    <a:lstStyle/>
                    <a:p>
                      <a:pPr algn="ctr"/>
                      <a:r>
                        <a:rPr lang="it-IT" dirty="0"/>
                        <a:t>300.000</a:t>
                      </a:r>
                    </a:p>
                  </a:txBody>
                  <a:tcPr anchor="ctr"/>
                </a:tc>
                <a:extLst>
                  <a:ext uri="{0D108BD9-81ED-4DB2-BD59-A6C34878D82A}">
                    <a16:rowId xmlns:a16="http://schemas.microsoft.com/office/drawing/2014/main" val="2347458598"/>
                  </a:ext>
                </a:extLst>
              </a:tr>
            </a:tbl>
          </a:graphicData>
        </a:graphic>
      </p:graphicFrame>
      <p:sp>
        <p:nvSpPr>
          <p:cNvPr id="5" name="Segnaposto contenuto 2">
            <a:extLst>
              <a:ext uri="{FF2B5EF4-FFF2-40B4-BE49-F238E27FC236}">
                <a16:creationId xmlns:a16="http://schemas.microsoft.com/office/drawing/2014/main" id="{D1097BA1-3874-41E8-BFEE-690EEF114209}"/>
              </a:ext>
            </a:extLst>
          </p:cNvPr>
          <p:cNvSpPr txBox="1">
            <a:spLocks/>
          </p:cNvSpPr>
          <p:nvPr/>
        </p:nvSpPr>
        <p:spPr>
          <a:xfrm>
            <a:off x="0" y="1094764"/>
            <a:ext cx="9143999" cy="510895"/>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lgn="ctr">
              <a:buNone/>
            </a:pPr>
            <a:r>
              <a:rPr lang="it-IT" sz="2200" dirty="0">
                <a:solidFill>
                  <a:srgbClr val="FFFFFF"/>
                </a:solidFill>
              </a:rPr>
              <a:t>Prossimi incontri ravvicinati con PHA nei prossimi 150 anni</a:t>
            </a:r>
          </a:p>
        </p:txBody>
      </p:sp>
    </p:spTree>
    <p:extLst>
      <p:ext uri="{BB962C8B-B14F-4D97-AF65-F5344CB8AC3E}">
        <p14:creationId xmlns:p14="http://schemas.microsoft.com/office/powerpoint/2010/main" val="919893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olo 1">
            <a:extLst>
              <a:ext uri="{FF2B5EF4-FFF2-40B4-BE49-F238E27FC236}">
                <a16:creationId xmlns:a16="http://schemas.microsoft.com/office/drawing/2014/main" id="{251DBF9E-F0A6-40AF-A5C0-02DD3D1D9872}"/>
              </a:ext>
            </a:extLst>
          </p:cNvPr>
          <p:cNvSpPr txBox="1">
            <a:spLocks/>
          </p:cNvSpPr>
          <p:nvPr/>
        </p:nvSpPr>
        <p:spPr>
          <a:xfrm>
            <a:off x="-41678" y="85161"/>
            <a:ext cx="9144000"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Frequenza di impatto</a:t>
            </a:r>
            <a:endParaRPr lang="it-IT" dirty="0">
              <a:solidFill>
                <a:schemeClr val="tx1"/>
              </a:solidFill>
            </a:endParaRPr>
          </a:p>
        </p:txBody>
      </p:sp>
      <p:graphicFrame>
        <p:nvGraphicFramePr>
          <p:cNvPr id="13" name="Tabella 12">
            <a:extLst>
              <a:ext uri="{FF2B5EF4-FFF2-40B4-BE49-F238E27FC236}">
                <a16:creationId xmlns:a16="http://schemas.microsoft.com/office/drawing/2014/main" id="{CB39F8A5-29B7-4BFA-AF30-DC65DB793D9D}"/>
              </a:ext>
            </a:extLst>
          </p:cNvPr>
          <p:cNvGraphicFramePr>
            <a:graphicFrameLocks noGrp="1"/>
          </p:cNvGraphicFramePr>
          <p:nvPr>
            <p:extLst>
              <p:ext uri="{D42A27DB-BD31-4B8C-83A1-F6EECF244321}">
                <p14:modId xmlns:p14="http://schemas.microsoft.com/office/powerpoint/2010/main" val="1603579353"/>
              </p:ext>
            </p:extLst>
          </p:nvPr>
        </p:nvGraphicFramePr>
        <p:xfrm>
          <a:off x="2462362" y="1722545"/>
          <a:ext cx="4135919" cy="2126742"/>
        </p:xfrm>
        <a:graphic>
          <a:graphicData uri="http://schemas.openxmlformats.org/drawingml/2006/table">
            <a:tbl>
              <a:tblPr firstRow="1" bandRow="1">
                <a:tableStyleId>{5C22544A-7EE6-4342-B048-85BDC9FD1C3A}</a:tableStyleId>
              </a:tblPr>
              <a:tblGrid>
                <a:gridCol w="1717482">
                  <a:extLst>
                    <a:ext uri="{9D8B030D-6E8A-4147-A177-3AD203B41FA5}">
                      <a16:colId xmlns:a16="http://schemas.microsoft.com/office/drawing/2014/main" val="1615193757"/>
                    </a:ext>
                  </a:extLst>
                </a:gridCol>
                <a:gridCol w="2418437">
                  <a:extLst>
                    <a:ext uri="{9D8B030D-6E8A-4147-A177-3AD203B41FA5}">
                      <a16:colId xmlns:a16="http://schemas.microsoft.com/office/drawing/2014/main" val="1879308827"/>
                    </a:ext>
                  </a:extLst>
                </a:gridCol>
              </a:tblGrid>
              <a:tr h="0">
                <a:tc>
                  <a:txBody>
                    <a:bodyPr/>
                    <a:lstStyle/>
                    <a:p>
                      <a:pPr algn="ctr"/>
                      <a:r>
                        <a:rPr lang="it-IT" dirty="0"/>
                        <a:t>Diametro</a:t>
                      </a:r>
                    </a:p>
                  </a:txBody>
                  <a:tcPr anchor="ctr"/>
                </a:tc>
                <a:tc>
                  <a:txBody>
                    <a:bodyPr/>
                    <a:lstStyle/>
                    <a:p>
                      <a:pPr algn="ctr"/>
                      <a:r>
                        <a:rPr lang="it-IT" dirty="0"/>
                        <a:t>Frequenza (anni)</a:t>
                      </a:r>
                    </a:p>
                  </a:txBody>
                  <a:tcPr anchor="ctr"/>
                </a:tc>
                <a:extLst>
                  <a:ext uri="{0D108BD9-81ED-4DB2-BD59-A6C34878D82A}">
                    <a16:rowId xmlns:a16="http://schemas.microsoft.com/office/drawing/2014/main" val="2759293837"/>
                  </a:ext>
                </a:extLst>
              </a:tr>
              <a:tr h="442214">
                <a:tc>
                  <a:txBody>
                    <a:bodyPr/>
                    <a:lstStyle/>
                    <a:p>
                      <a:pPr algn="ctr"/>
                      <a:r>
                        <a:rPr lang="it-IT" dirty="0"/>
                        <a:t>d &gt; 10 Km</a:t>
                      </a:r>
                    </a:p>
                  </a:txBody>
                  <a:tcPr anchor="ctr"/>
                </a:tc>
                <a:tc>
                  <a:txBody>
                    <a:bodyPr/>
                    <a:lstStyle/>
                    <a:p>
                      <a:pPr algn="ctr"/>
                      <a:r>
                        <a:rPr lang="it-IT" dirty="0"/>
                        <a:t>50.000.000</a:t>
                      </a:r>
                    </a:p>
                  </a:txBody>
                  <a:tcPr anchor="ctr"/>
                </a:tc>
                <a:extLst>
                  <a:ext uri="{0D108BD9-81ED-4DB2-BD59-A6C34878D82A}">
                    <a16:rowId xmlns:a16="http://schemas.microsoft.com/office/drawing/2014/main" val="1893565290"/>
                  </a:ext>
                </a:extLst>
              </a:tr>
              <a:tr h="442214">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it-IT" dirty="0"/>
                        <a:t>1 Km &lt; d &lt; 10 Km</a:t>
                      </a:r>
                    </a:p>
                    <a:p>
                      <a:pPr algn="ctr"/>
                      <a:endParaRPr lang="it-IT" dirty="0"/>
                    </a:p>
                  </a:txBody>
                  <a:tcPr anchor="ctr"/>
                </a:tc>
                <a:tc>
                  <a:txBody>
                    <a:bodyPr/>
                    <a:lstStyle/>
                    <a:p>
                      <a:pPr algn="ctr"/>
                      <a:r>
                        <a:rPr lang="it-IT" dirty="0"/>
                        <a:t>500.000</a:t>
                      </a:r>
                    </a:p>
                  </a:txBody>
                  <a:tcPr anchor="ctr"/>
                </a:tc>
                <a:extLst>
                  <a:ext uri="{0D108BD9-81ED-4DB2-BD59-A6C34878D82A}">
                    <a16:rowId xmlns:a16="http://schemas.microsoft.com/office/drawing/2014/main" val="2326972667"/>
                  </a:ext>
                </a:extLst>
              </a:tr>
              <a:tr h="442214">
                <a:tc>
                  <a:txBody>
                    <a:bodyPr/>
                    <a:lstStyle/>
                    <a:p>
                      <a:pPr algn="ctr"/>
                      <a:r>
                        <a:rPr lang="it-IT" dirty="0"/>
                        <a:t>100 m &lt; d &lt; 1 Km</a:t>
                      </a:r>
                    </a:p>
                  </a:txBody>
                  <a:tcPr anchor="ctr"/>
                </a:tc>
                <a:tc>
                  <a:txBody>
                    <a:bodyPr/>
                    <a:lstStyle/>
                    <a:p>
                      <a:pPr algn="ctr"/>
                      <a:r>
                        <a:rPr lang="it-IT" dirty="0"/>
                        <a:t>5.000</a:t>
                      </a:r>
                    </a:p>
                  </a:txBody>
                  <a:tcPr anchor="ctr"/>
                </a:tc>
                <a:extLst>
                  <a:ext uri="{0D108BD9-81ED-4DB2-BD59-A6C34878D82A}">
                    <a16:rowId xmlns:a16="http://schemas.microsoft.com/office/drawing/2014/main" val="2693885994"/>
                  </a:ext>
                </a:extLst>
              </a:tr>
              <a:tr h="442214">
                <a:tc>
                  <a:txBody>
                    <a:bodyPr/>
                    <a:lstStyle/>
                    <a:p>
                      <a:pPr algn="ctr"/>
                      <a:r>
                        <a:rPr lang="it-IT" dirty="0"/>
                        <a:t>30 m &lt; d &lt; 100 m</a:t>
                      </a:r>
                    </a:p>
                  </a:txBody>
                  <a:tcPr anchor="ctr"/>
                </a:tc>
                <a:tc>
                  <a:txBody>
                    <a:bodyPr/>
                    <a:lstStyle/>
                    <a:p>
                      <a:pPr algn="ctr"/>
                      <a:r>
                        <a:rPr lang="it-IT" dirty="0"/>
                        <a:t>500</a:t>
                      </a:r>
                    </a:p>
                  </a:txBody>
                  <a:tcPr anchor="ctr"/>
                </a:tc>
                <a:extLst>
                  <a:ext uri="{0D108BD9-81ED-4DB2-BD59-A6C34878D82A}">
                    <a16:rowId xmlns:a16="http://schemas.microsoft.com/office/drawing/2014/main" val="2347458598"/>
                  </a:ext>
                </a:extLst>
              </a:tr>
            </a:tbl>
          </a:graphicData>
        </a:graphic>
      </p:graphicFrame>
      <p:sp>
        <p:nvSpPr>
          <p:cNvPr id="17" name="Segnaposto contenuto 2">
            <a:extLst>
              <a:ext uri="{FF2B5EF4-FFF2-40B4-BE49-F238E27FC236}">
                <a16:creationId xmlns:a16="http://schemas.microsoft.com/office/drawing/2014/main" id="{B3D4D944-ECB4-4CED-B67F-2FFF5642D14C}"/>
              </a:ext>
            </a:extLst>
          </p:cNvPr>
          <p:cNvSpPr txBox="1">
            <a:spLocks/>
          </p:cNvSpPr>
          <p:nvPr/>
        </p:nvSpPr>
        <p:spPr>
          <a:xfrm>
            <a:off x="1" y="930334"/>
            <a:ext cx="9143999" cy="449579"/>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lgn="ctr">
              <a:buNone/>
            </a:pPr>
            <a:r>
              <a:rPr lang="it-IT" sz="1800" dirty="0">
                <a:solidFill>
                  <a:srgbClr val="FFFFFF"/>
                </a:solidFill>
              </a:rPr>
              <a:t>Più grande l’oggetto (NEA) minore è la probabilità di impatto sulla Terra</a:t>
            </a:r>
          </a:p>
        </p:txBody>
      </p:sp>
      <p:sp>
        <p:nvSpPr>
          <p:cNvPr id="18" name="Segnaposto contenuto 2">
            <a:extLst>
              <a:ext uri="{FF2B5EF4-FFF2-40B4-BE49-F238E27FC236}">
                <a16:creationId xmlns:a16="http://schemas.microsoft.com/office/drawing/2014/main" id="{D24A9E9D-BE64-4447-B486-AD87981C26B2}"/>
              </a:ext>
            </a:extLst>
          </p:cNvPr>
          <p:cNvSpPr txBox="1">
            <a:spLocks/>
          </p:cNvSpPr>
          <p:nvPr/>
        </p:nvSpPr>
        <p:spPr>
          <a:xfrm>
            <a:off x="-41679" y="4072424"/>
            <a:ext cx="9143999" cy="895578"/>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lgn="just">
              <a:buNone/>
            </a:pPr>
            <a:r>
              <a:rPr lang="it-IT" sz="1800" dirty="0">
                <a:solidFill>
                  <a:srgbClr val="FFFFFF"/>
                </a:solidFill>
              </a:rPr>
              <a:t>La probabilità di impatto può essere rappresentata anche geometricamente come rapporto fra la sezione circolare esposta del nostro pianeta rispetto la regione di incertezza che racchiude tutti i possibili percorsi orbitali del NEA</a:t>
            </a:r>
          </a:p>
        </p:txBody>
      </p:sp>
    </p:spTree>
    <p:extLst>
      <p:ext uri="{BB962C8B-B14F-4D97-AF65-F5344CB8AC3E}">
        <p14:creationId xmlns:p14="http://schemas.microsoft.com/office/powerpoint/2010/main" val="3648170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03E1AE2F-4A4F-4675-AA60-83F7E60D7CFC}"/>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Segnaposto contenuto 2"/>
          <p:cNvSpPr txBox="1">
            <a:spLocks/>
          </p:cNvSpPr>
          <p:nvPr/>
        </p:nvSpPr>
        <p:spPr>
          <a:xfrm>
            <a:off x="169682" y="754144"/>
            <a:ext cx="8738647" cy="841900"/>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2400" b="1" i="1" dirty="0">
                <a:solidFill>
                  <a:srgbClr val="FF0000"/>
                </a:solidFill>
              </a:rPr>
              <a:t>E’ una scala internazionale </a:t>
            </a:r>
            <a:r>
              <a:rPr lang="it-IT" sz="2400" b="1" i="1" u="sng" dirty="0">
                <a:solidFill>
                  <a:srgbClr val="FF0000"/>
                </a:solidFill>
              </a:rPr>
              <a:t>qualitativa</a:t>
            </a:r>
            <a:r>
              <a:rPr lang="it-IT" sz="2400" b="1" i="1" dirty="0">
                <a:solidFill>
                  <a:srgbClr val="FF0000"/>
                </a:solidFill>
              </a:rPr>
              <a:t> per la misura del rischio di impatto da 0 a 10</a:t>
            </a:r>
            <a:endParaRPr lang="it-IT" sz="2400" dirty="0">
              <a:solidFill>
                <a:srgbClr val="FF0000"/>
              </a:solidFill>
            </a:endParaRPr>
          </a:p>
        </p:txBody>
      </p:sp>
      <p:sp>
        <p:nvSpPr>
          <p:cNvPr id="8" name="Titolo 1">
            <a:extLst>
              <a:ext uri="{FF2B5EF4-FFF2-40B4-BE49-F238E27FC236}">
                <a16:creationId xmlns:a16="http://schemas.microsoft.com/office/drawing/2014/main" id="{63E86EF6-96D3-494A-8838-6E03C6B4C2CD}"/>
              </a:ext>
            </a:extLst>
          </p:cNvPr>
          <p:cNvSpPr txBox="1">
            <a:spLocks/>
          </p:cNvSpPr>
          <p:nvPr/>
        </p:nvSpPr>
        <p:spPr>
          <a:xfrm>
            <a:off x="0" y="85161"/>
            <a:ext cx="9102321"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Torino</a:t>
            </a:r>
            <a:endParaRPr lang="it-IT" dirty="0">
              <a:solidFill>
                <a:schemeClr val="tx1"/>
              </a:solidFill>
            </a:endParaRPr>
          </a:p>
        </p:txBody>
      </p:sp>
    </p:spTree>
    <p:extLst>
      <p:ext uri="{BB962C8B-B14F-4D97-AF65-F5344CB8AC3E}">
        <p14:creationId xmlns:p14="http://schemas.microsoft.com/office/powerpoint/2010/main" val="1021839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914400" y="462967"/>
            <a:ext cx="7315200" cy="455285"/>
          </a:xfrm>
        </p:spPr>
        <p:txBody>
          <a:bodyPr>
            <a:normAutofit fontScale="90000"/>
          </a:bodyPr>
          <a:lstStyle/>
          <a:p>
            <a:pPr algn="ctr"/>
            <a:r>
              <a:rPr lang="it-IT" dirty="0">
                <a:solidFill>
                  <a:schemeClr val="tx1"/>
                </a:solidFill>
              </a:rPr>
              <a:t>Tutti a Torino !!!</a:t>
            </a:r>
          </a:p>
        </p:txBody>
      </p:sp>
      <p:pic>
        <p:nvPicPr>
          <p:cNvPr id="4" name="Immagine 3" descr="torrino_superlarge.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239361"/>
          </a:xfrm>
          <a:prstGeom prst="rect">
            <a:avLst/>
          </a:prstGeom>
        </p:spPr>
      </p:pic>
    </p:spTree>
    <p:extLst>
      <p:ext uri="{BB962C8B-B14F-4D97-AF65-F5344CB8AC3E}">
        <p14:creationId xmlns:p14="http://schemas.microsoft.com/office/powerpoint/2010/main" val="40554838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FDDD4A3A-8EEE-4A1A-B4A6-65252C0766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088" y="367644"/>
            <a:ext cx="8493056" cy="4581427"/>
          </a:xfrm>
          <a:prstGeom prst="rect">
            <a:avLst/>
          </a:prstGeom>
        </p:spPr>
      </p:pic>
    </p:spTree>
    <p:extLst>
      <p:ext uri="{BB962C8B-B14F-4D97-AF65-F5344CB8AC3E}">
        <p14:creationId xmlns:p14="http://schemas.microsoft.com/office/powerpoint/2010/main" val="3152695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560ED8D6-8F48-4441-986B-F9F270873B0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328797"/>
            <a:ext cx="9144000" cy="5472297"/>
          </a:xfrm>
          <a:prstGeom prst="rect">
            <a:avLst/>
          </a:prstGeom>
        </p:spPr>
      </p:pic>
      <p:sp>
        <p:nvSpPr>
          <p:cNvPr id="14" name="Segnaposto contenuto 2"/>
          <p:cNvSpPr txBox="1">
            <a:spLocks/>
          </p:cNvSpPr>
          <p:nvPr/>
        </p:nvSpPr>
        <p:spPr>
          <a:xfrm>
            <a:off x="358218" y="641972"/>
            <a:ext cx="8408710" cy="913451"/>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2400" b="1" i="1" dirty="0">
                <a:solidFill>
                  <a:srgbClr val="FF0000"/>
                </a:solidFill>
              </a:rPr>
              <a:t>E’ una scala internazionale </a:t>
            </a:r>
            <a:r>
              <a:rPr lang="it-IT" sz="2400" b="1" i="1" u="sng" dirty="0">
                <a:solidFill>
                  <a:srgbClr val="FF0000"/>
                </a:solidFill>
              </a:rPr>
              <a:t>quantitativa</a:t>
            </a:r>
            <a:r>
              <a:rPr lang="it-IT" sz="2400" b="1" i="1" dirty="0">
                <a:solidFill>
                  <a:srgbClr val="FF0000"/>
                </a:solidFill>
              </a:rPr>
              <a:t> per la misura del rischio di impatto</a:t>
            </a:r>
            <a:endParaRPr lang="it-IT" sz="2400" dirty="0">
              <a:solidFill>
                <a:srgbClr val="FF0000"/>
              </a:solidFill>
            </a:endParaRPr>
          </a:p>
        </p:txBody>
      </p:sp>
      <p:sp>
        <p:nvSpPr>
          <p:cNvPr id="18" name="Segnaposto contenuto 2"/>
          <p:cNvSpPr txBox="1">
            <a:spLocks/>
          </p:cNvSpPr>
          <p:nvPr/>
        </p:nvSpPr>
        <p:spPr>
          <a:xfrm>
            <a:off x="226242" y="3704734"/>
            <a:ext cx="8540686" cy="1268764"/>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lgn="just">
              <a:buNone/>
            </a:pPr>
            <a:r>
              <a:rPr lang="it-IT" b="1" dirty="0"/>
              <a:t>Esprime il rapporto tra la probabilità che avvenga un evento specifico e la probabilità che un oggetto di uguali dimensioni possa colpire la Terra negli anni che ci separano dall’evento considerato</a:t>
            </a:r>
          </a:p>
        </p:txBody>
      </p:sp>
      <p:sp>
        <p:nvSpPr>
          <p:cNvPr id="8" name="Titolo 1">
            <a:extLst>
              <a:ext uri="{FF2B5EF4-FFF2-40B4-BE49-F238E27FC236}">
                <a16:creationId xmlns:a16="http://schemas.microsoft.com/office/drawing/2014/main" id="{63E86EF6-96D3-494A-8838-6E03C6B4C2CD}"/>
              </a:ext>
            </a:extLst>
          </p:cNvPr>
          <p:cNvSpPr txBox="1">
            <a:spLocks/>
          </p:cNvSpPr>
          <p:nvPr/>
        </p:nvSpPr>
        <p:spPr>
          <a:xfrm>
            <a:off x="0" y="85161"/>
            <a:ext cx="9102321"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Palermo</a:t>
            </a:r>
            <a:endParaRPr lang="it-IT" dirty="0">
              <a:solidFill>
                <a:schemeClr val="tx1"/>
              </a:solidFill>
            </a:endParaRPr>
          </a:p>
        </p:txBody>
      </p:sp>
    </p:spTree>
    <p:extLst>
      <p:ext uri="{BB962C8B-B14F-4D97-AF65-F5344CB8AC3E}">
        <p14:creationId xmlns:p14="http://schemas.microsoft.com/office/powerpoint/2010/main" val="3832987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contenuto 2"/>
          <p:cNvSpPr txBox="1">
            <a:spLocks/>
          </p:cNvSpPr>
          <p:nvPr/>
        </p:nvSpPr>
        <p:spPr>
          <a:xfrm>
            <a:off x="199579" y="877957"/>
            <a:ext cx="8825887" cy="797943"/>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800" b="1" i="1" dirty="0" err="1">
                <a:solidFill>
                  <a:srgbClr val="FF0000"/>
                </a:solidFill>
              </a:rPr>
              <a:t>NEODys</a:t>
            </a:r>
            <a:r>
              <a:rPr lang="it-IT" sz="1800" b="1" i="1" dirty="0">
                <a:solidFill>
                  <a:srgbClr val="FF0000"/>
                </a:solidFill>
              </a:rPr>
              <a:t> </a:t>
            </a:r>
            <a:r>
              <a:rPr lang="it-IT" sz="1800" b="1" i="1" dirty="0"/>
              <a:t>Programma dell’Università di Pisa per il monitoraggio dei NEO (NEO Dynamic Site)</a:t>
            </a:r>
            <a:endParaRPr lang="it-IT" sz="1800" dirty="0"/>
          </a:p>
        </p:txBody>
      </p:sp>
      <p:sp>
        <p:nvSpPr>
          <p:cNvPr id="7" name="Segnaposto contenuto 2"/>
          <p:cNvSpPr txBox="1">
            <a:spLocks/>
          </p:cNvSpPr>
          <p:nvPr/>
        </p:nvSpPr>
        <p:spPr>
          <a:xfrm>
            <a:off x="199579" y="3045799"/>
            <a:ext cx="8661615" cy="1949534"/>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lvl="1"/>
            <a:r>
              <a:rPr lang="it-IT" b="1" i="1" dirty="0"/>
              <a:t>Viene identificato (</a:t>
            </a:r>
            <a:r>
              <a:rPr lang="it-IT" b="1" i="1" dirty="0">
                <a:solidFill>
                  <a:srgbClr val="FFFF00"/>
                </a:solidFill>
              </a:rPr>
              <a:t>UAI</a:t>
            </a:r>
            <a:r>
              <a:rPr lang="it-IT" b="1" i="1" dirty="0"/>
              <a:t> e </a:t>
            </a:r>
            <a:r>
              <a:rPr lang="it-IT" b="1" i="1" dirty="0">
                <a:solidFill>
                  <a:srgbClr val="FFFF00"/>
                </a:solidFill>
              </a:rPr>
              <a:t>Minor Planet Center</a:t>
            </a:r>
            <a:r>
              <a:rPr lang="it-IT" b="1" i="1" dirty="0"/>
              <a:t>)</a:t>
            </a:r>
          </a:p>
          <a:p>
            <a:pPr lvl="1"/>
            <a:endParaRPr lang="it-IT" b="1" i="1" dirty="0"/>
          </a:p>
          <a:p>
            <a:pPr lvl="1"/>
            <a:r>
              <a:rPr lang="it-IT" b="1" i="1" dirty="0"/>
              <a:t>Viene calcolata l’orbita</a:t>
            </a:r>
          </a:p>
          <a:p>
            <a:pPr lvl="1"/>
            <a:endParaRPr lang="it-IT" b="1" i="1" dirty="0"/>
          </a:p>
          <a:p>
            <a:pPr lvl="1"/>
            <a:r>
              <a:rPr lang="it-IT" b="1" i="1" dirty="0"/>
              <a:t>Vengono valutati i possibili rischi ed avviate una serie di osservazioni</a:t>
            </a:r>
          </a:p>
          <a:p>
            <a:pPr marL="45720" indent="0">
              <a:buNone/>
            </a:pPr>
            <a:endParaRPr lang="it-IT" sz="2200" dirty="0"/>
          </a:p>
        </p:txBody>
      </p:sp>
      <p:sp>
        <p:nvSpPr>
          <p:cNvPr id="9" name="Segnaposto contenuto 2"/>
          <p:cNvSpPr txBox="1">
            <a:spLocks/>
          </p:cNvSpPr>
          <p:nvPr/>
        </p:nvSpPr>
        <p:spPr>
          <a:xfrm>
            <a:off x="199579" y="1791838"/>
            <a:ext cx="4982022" cy="482674"/>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800" b="1" i="1" dirty="0">
                <a:solidFill>
                  <a:srgbClr val="FF0000"/>
                </a:solidFill>
              </a:rPr>
              <a:t>JPL/NASA NEO </a:t>
            </a:r>
            <a:r>
              <a:rPr lang="it-IT" sz="1800" b="1" i="1" dirty="0"/>
              <a:t>Programma americano</a:t>
            </a:r>
            <a:endParaRPr lang="it-IT" sz="1800" dirty="0"/>
          </a:p>
        </p:txBody>
      </p:sp>
      <p:sp>
        <p:nvSpPr>
          <p:cNvPr id="10" name="Segnaposto contenuto 2"/>
          <p:cNvSpPr txBox="1">
            <a:spLocks/>
          </p:cNvSpPr>
          <p:nvPr/>
        </p:nvSpPr>
        <p:spPr>
          <a:xfrm>
            <a:off x="1690211" y="2527794"/>
            <a:ext cx="5673463" cy="482674"/>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lgn="ctr">
              <a:buNone/>
            </a:pPr>
            <a:r>
              <a:rPr lang="it-IT" sz="2200" b="1" i="1" dirty="0">
                <a:solidFill>
                  <a:srgbClr val="FF0000"/>
                </a:solidFill>
              </a:rPr>
              <a:t>E se si scopre un nuovo oggetto?</a:t>
            </a:r>
            <a:endParaRPr lang="it-IT" sz="2200" dirty="0"/>
          </a:p>
        </p:txBody>
      </p:sp>
      <p:sp>
        <p:nvSpPr>
          <p:cNvPr id="11" name="Titolo 1">
            <a:extLst>
              <a:ext uri="{FF2B5EF4-FFF2-40B4-BE49-F238E27FC236}">
                <a16:creationId xmlns:a16="http://schemas.microsoft.com/office/drawing/2014/main" id="{C141FC51-ED3C-4C20-A495-9EACC83135A9}"/>
              </a:ext>
            </a:extLst>
          </p:cNvPr>
          <p:cNvSpPr txBox="1">
            <a:spLocks/>
          </p:cNvSpPr>
          <p:nvPr/>
        </p:nvSpPr>
        <p:spPr>
          <a:xfrm>
            <a:off x="0" y="35127"/>
            <a:ext cx="9144000"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Programmi di prevenzione</a:t>
            </a:r>
            <a:endParaRPr lang="it-IT" dirty="0">
              <a:solidFill>
                <a:schemeClr val="tx1"/>
              </a:solidFill>
            </a:endParaRPr>
          </a:p>
        </p:txBody>
      </p:sp>
    </p:spTree>
    <p:extLst>
      <p:ext uri="{BB962C8B-B14F-4D97-AF65-F5344CB8AC3E}">
        <p14:creationId xmlns:p14="http://schemas.microsoft.com/office/powerpoint/2010/main" val="3875249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contenuto 2"/>
          <p:cNvSpPr txBox="1">
            <a:spLocks/>
          </p:cNvSpPr>
          <p:nvPr/>
        </p:nvSpPr>
        <p:spPr>
          <a:xfrm>
            <a:off x="235670" y="887365"/>
            <a:ext cx="5363850" cy="741455"/>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r>
              <a:rPr lang="it-IT" sz="1800" dirty="0"/>
              <a:t>Lancio di una testata nucleare allo scopo di deviare la traiettoria dell’oggetto</a:t>
            </a:r>
          </a:p>
        </p:txBody>
      </p:sp>
      <p:sp>
        <p:nvSpPr>
          <p:cNvPr id="8" name="Segnaposto contenuto 2"/>
          <p:cNvSpPr txBox="1">
            <a:spLocks/>
          </p:cNvSpPr>
          <p:nvPr/>
        </p:nvSpPr>
        <p:spPr>
          <a:xfrm>
            <a:off x="235669" y="1857965"/>
            <a:ext cx="5363853" cy="1040813"/>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r>
              <a:rPr lang="it-IT" sz="1800" dirty="0"/>
              <a:t>Atterrare con una sonda sull’oggetto e deviarne la traiettoria tramite motori ausiliari  (</a:t>
            </a:r>
            <a:r>
              <a:rPr lang="it-IT" sz="1800" dirty="0" err="1"/>
              <a:t>Kinetic</a:t>
            </a:r>
            <a:r>
              <a:rPr lang="it-IT" sz="1800" dirty="0"/>
              <a:t> </a:t>
            </a:r>
            <a:r>
              <a:rPr lang="it-IT" sz="1800" dirty="0" err="1"/>
              <a:t>impactor</a:t>
            </a:r>
            <a:r>
              <a:rPr lang="it-IT" sz="1800" dirty="0"/>
              <a:t>)</a:t>
            </a:r>
          </a:p>
        </p:txBody>
      </p:sp>
      <p:sp>
        <p:nvSpPr>
          <p:cNvPr id="9" name="Segnaposto contenuto 2"/>
          <p:cNvSpPr txBox="1">
            <a:spLocks/>
          </p:cNvSpPr>
          <p:nvPr/>
        </p:nvSpPr>
        <p:spPr>
          <a:xfrm>
            <a:off x="235669" y="3038523"/>
            <a:ext cx="5439266" cy="947212"/>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r>
              <a:rPr lang="it-IT" sz="1800" dirty="0"/>
              <a:t>Scaldare la superficie dell’asteroide con un laser e sfruttare l’eiezione naturale dei gas/polvere </a:t>
            </a:r>
          </a:p>
        </p:txBody>
      </p:sp>
      <p:sp>
        <p:nvSpPr>
          <p:cNvPr id="10" name="Segnaposto contenuto 2"/>
          <p:cNvSpPr txBox="1">
            <a:spLocks/>
          </p:cNvSpPr>
          <p:nvPr/>
        </p:nvSpPr>
        <p:spPr>
          <a:xfrm>
            <a:off x="235670" y="4194058"/>
            <a:ext cx="5363853" cy="631942"/>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r>
              <a:rPr lang="it-IT" sz="1800" dirty="0"/>
              <a:t>Lancio di una sonda suicida in modo da deflettere la traiettoria</a:t>
            </a:r>
          </a:p>
        </p:txBody>
      </p:sp>
      <p:pic>
        <p:nvPicPr>
          <p:cNvPr id="3" name="Immagine 2" descr="1640.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7947" y="668192"/>
            <a:ext cx="3080383" cy="4400548"/>
          </a:xfrm>
          <a:prstGeom prst="rect">
            <a:avLst/>
          </a:prstGeom>
        </p:spPr>
      </p:pic>
      <p:sp>
        <p:nvSpPr>
          <p:cNvPr id="11" name="Titolo 1">
            <a:extLst>
              <a:ext uri="{FF2B5EF4-FFF2-40B4-BE49-F238E27FC236}">
                <a16:creationId xmlns:a16="http://schemas.microsoft.com/office/drawing/2014/main" id="{CD5A5CD7-DEB0-4D9F-8A22-A5A864849351}"/>
              </a:ext>
            </a:extLst>
          </p:cNvPr>
          <p:cNvSpPr txBox="1">
            <a:spLocks/>
          </p:cNvSpPr>
          <p:nvPr/>
        </p:nvSpPr>
        <p:spPr>
          <a:xfrm>
            <a:off x="0" y="29553"/>
            <a:ext cx="9144000"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Come difendersi?</a:t>
            </a:r>
            <a:endParaRPr lang="it-IT" dirty="0">
              <a:solidFill>
                <a:schemeClr val="tx1"/>
              </a:solidFill>
            </a:endParaRPr>
          </a:p>
        </p:txBody>
      </p:sp>
    </p:spTree>
    <p:extLst>
      <p:ext uri="{BB962C8B-B14F-4D97-AF65-F5344CB8AC3E}">
        <p14:creationId xmlns:p14="http://schemas.microsoft.com/office/powerpoint/2010/main" val="3101405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E7D50F68-A787-4EB5-939D-91B0CDB163C2}"/>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 y="-1"/>
            <a:ext cx="9161457" cy="5024487"/>
          </a:xfrm>
          <a:prstGeom prst="rect">
            <a:avLst/>
          </a:prstGeom>
        </p:spPr>
      </p:pic>
      <p:sp>
        <p:nvSpPr>
          <p:cNvPr id="9" name="Segnaposto contenuto 2"/>
          <p:cNvSpPr txBox="1">
            <a:spLocks/>
          </p:cNvSpPr>
          <p:nvPr/>
        </p:nvSpPr>
        <p:spPr>
          <a:xfrm>
            <a:off x="5024487" y="771907"/>
            <a:ext cx="3846136" cy="1230469"/>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b="1" i="1" dirty="0"/>
              <a:t>Diametro: </a:t>
            </a:r>
            <a:r>
              <a:rPr lang="it-IT" dirty="0"/>
              <a:t>15-20 m</a:t>
            </a:r>
          </a:p>
          <a:p>
            <a:pPr marL="45720" indent="0">
              <a:buNone/>
            </a:pPr>
            <a:r>
              <a:rPr lang="it-IT" b="1" i="1" dirty="0"/>
              <a:t>Massa </a:t>
            </a:r>
            <a:r>
              <a:rPr lang="it-IT" dirty="0"/>
              <a:t>10.000 t</a:t>
            </a:r>
          </a:p>
          <a:p>
            <a:pPr marL="45720" indent="0">
              <a:buNone/>
            </a:pPr>
            <a:r>
              <a:rPr lang="it-IT" b="1" i="1" dirty="0"/>
              <a:t>Velocità d’ingresso: </a:t>
            </a:r>
            <a:r>
              <a:rPr lang="it-IT" dirty="0"/>
              <a:t>15 Km/s</a:t>
            </a:r>
          </a:p>
        </p:txBody>
      </p:sp>
      <p:sp>
        <p:nvSpPr>
          <p:cNvPr id="10" name="Segnaposto contenuto 2"/>
          <p:cNvSpPr txBox="1">
            <a:spLocks/>
          </p:cNvSpPr>
          <p:nvPr/>
        </p:nvSpPr>
        <p:spPr>
          <a:xfrm>
            <a:off x="821266" y="4493530"/>
            <a:ext cx="7761490" cy="419305"/>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lgn="ctr">
              <a:buNone/>
            </a:pPr>
            <a:r>
              <a:rPr lang="it-IT" sz="2400" b="1" i="1" dirty="0">
                <a:solidFill>
                  <a:srgbClr val="FF0000"/>
                </a:solidFill>
              </a:rPr>
              <a:t>Perché nessuno ha notato il suo arrivo?</a:t>
            </a:r>
            <a:endParaRPr lang="it-IT" dirty="0">
              <a:solidFill>
                <a:srgbClr val="FF0000"/>
              </a:solidFill>
            </a:endParaRPr>
          </a:p>
        </p:txBody>
      </p:sp>
      <p:sp>
        <p:nvSpPr>
          <p:cNvPr id="8" name="Titolo 1">
            <a:extLst>
              <a:ext uri="{FF2B5EF4-FFF2-40B4-BE49-F238E27FC236}">
                <a16:creationId xmlns:a16="http://schemas.microsoft.com/office/drawing/2014/main" id="{A35B36AC-EBD5-4789-A4B4-1D3A0D131D43}"/>
              </a:ext>
            </a:extLst>
          </p:cNvPr>
          <p:cNvSpPr txBox="1">
            <a:spLocks/>
          </p:cNvSpPr>
          <p:nvPr/>
        </p:nvSpPr>
        <p:spPr>
          <a:xfrm>
            <a:off x="-1" y="13501"/>
            <a:ext cx="9144000"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err="1">
                <a:solidFill>
                  <a:srgbClr val="FFFF00"/>
                </a:solidFill>
              </a:rPr>
              <a:t>Chelyabinsk</a:t>
            </a:r>
            <a:endParaRPr lang="it-IT" dirty="0">
              <a:solidFill>
                <a:schemeClr val="tx1"/>
              </a:solidFill>
            </a:endParaRPr>
          </a:p>
        </p:txBody>
      </p:sp>
    </p:spTree>
    <p:extLst>
      <p:ext uri="{BB962C8B-B14F-4D97-AF65-F5344CB8AC3E}">
        <p14:creationId xmlns:p14="http://schemas.microsoft.com/office/powerpoint/2010/main" val="18454660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egnaposto contenuto 2"/>
          <p:cNvSpPr txBox="1">
            <a:spLocks/>
          </p:cNvSpPr>
          <p:nvPr/>
        </p:nvSpPr>
        <p:spPr>
          <a:xfrm>
            <a:off x="196883" y="930658"/>
            <a:ext cx="8750233" cy="474809"/>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800" dirty="0"/>
              <a:t>Dimensioni ridotte per gli attuali telescopi/programmi investigativi</a:t>
            </a:r>
          </a:p>
        </p:txBody>
      </p:sp>
      <p:sp>
        <p:nvSpPr>
          <p:cNvPr id="6" name="Segnaposto contenuto 2"/>
          <p:cNvSpPr txBox="1">
            <a:spLocks/>
          </p:cNvSpPr>
          <p:nvPr/>
        </p:nvSpPr>
        <p:spPr>
          <a:xfrm>
            <a:off x="196883" y="1708071"/>
            <a:ext cx="8750233" cy="474809"/>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800" dirty="0"/>
              <a:t>Orbita di arrivo: </a:t>
            </a:r>
            <a:r>
              <a:rPr lang="it-IT" sz="1800" i="1" u="sng" dirty="0"/>
              <a:t>se viene in direzione del Sole è più difficile individuarlo</a:t>
            </a:r>
            <a:endParaRPr lang="it-IT" sz="1600" i="1" u="sng" dirty="0"/>
          </a:p>
        </p:txBody>
      </p:sp>
      <p:sp>
        <p:nvSpPr>
          <p:cNvPr id="7" name="Segnaposto contenuto 2"/>
          <p:cNvSpPr txBox="1">
            <a:spLocks/>
          </p:cNvSpPr>
          <p:nvPr/>
        </p:nvSpPr>
        <p:spPr>
          <a:xfrm>
            <a:off x="196883" y="2524116"/>
            <a:ext cx="8750233" cy="710151"/>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1800" dirty="0"/>
              <a:t>In generale, identificare per tempo l’oggetto e l’orbita aumenta la possibilità di intervento </a:t>
            </a:r>
            <a:endParaRPr lang="it-IT" sz="1600" dirty="0"/>
          </a:p>
        </p:txBody>
      </p:sp>
      <p:sp>
        <p:nvSpPr>
          <p:cNvPr id="8" name="Segnaposto contenuto 2"/>
          <p:cNvSpPr txBox="1">
            <a:spLocks/>
          </p:cNvSpPr>
          <p:nvPr/>
        </p:nvSpPr>
        <p:spPr>
          <a:xfrm>
            <a:off x="256150" y="3575503"/>
            <a:ext cx="8750233" cy="886027"/>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sz="2400" b="1" i="1" dirty="0">
                <a:solidFill>
                  <a:srgbClr val="FF0000"/>
                </a:solidFill>
              </a:rPr>
              <a:t>Ultima spiaggia</a:t>
            </a:r>
            <a:r>
              <a:rPr lang="it-IT" sz="2400" b="1" i="1" dirty="0"/>
              <a:t>: avvertire la popolazione ed evacuare la possibile zona d’impatto.</a:t>
            </a:r>
            <a:endParaRPr lang="it-IT" sz="2000" b="1" i="1" dirty="0"/>
          </a:p>
        </p:txBody>
      </p:sp>
      <p:sp>
        <p:nvSpPr>
          <p:cNvPr id="10" name="Titolo 1">
            <a:extLst>
              <a:ext uri="{FF2B5EF4-FFF2-40B4-BE49-F238E27FC236}">
                <a16:creationId xmlns:a16="http://schemas.microsoft.com/office/drawing/2014/main" id="{DBC25DC3-4E83-4A8F-89A2-FDA66F7B915D}"/>
              </a:ext>
            </a:extLst>
          </p:cNvPr>
          <p:cNvSpPr txBox="1">
            <a:spLocks/>
          </p:cNvSpPr>
          <p:nvPr/>
        </p:nvSpPr>
        <p:spPr>
          <a:xfrm>
            <a:off x="-1" y="13501"/>
            <a:ext cx="9144000"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err="1">
                <a:solidFill>
                  <a:srgbClr val="FFFF00"/>
                </a:solidFill>
              </a:rPr>
              <a:t>Chelyabinsk</a:t>
            </a:r>
            <a:endParaRPr lang="it-IT" dirty="0">
              <a:solidFill>
                <a:schemeClr val="tx1"/>
              </a:solidFill>
            </a:endParaRPr>
          </a:p>
        </p:txBody>
      </p:sp>
    </p:spTree>
    <p:extLst>
      <p:ext uri="{BB962C8B-B14F-4D97-AF65-F5344CB8AC3E}">
        <p14:creationId xmlns:p14="http://schemas.microsoft.com/office/powerpoint/2010/main" val="3681430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56230ABC-683E-4D68-971D-8BC4F0E5BFB6}"/>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448075" y="697247"/>
            <a:ext cx="3630991" cy="4177246"/>
          </a:xfrm>
          <a:prstGeom prst="rect">
            <a:avLst/>
          </a:prstGeom>
        </p:spPr>
      </p:pic>
      <p:sp>
        <p:nvSpPr>
          <p:cNvPr id="9" name="Segnaposto contenuto 2"/>
          <p:cNvSpPr txBox="1">
            <a:spLocks/>
          </p:cNvSpPr>
          <p:nvPr/>
        </p:nvSpPr>
        <p:spPr>
          <a:xfrm>
            <a:off x="139504" y="1084043"/>
            <a:ext cx="8750233" cy="741455"/>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buNone/>
            </a:pPr>
            <a:r>
              <a:rPr lang="it-IT" b="1" i="1" dirty="0">
                <a:solidFill>
                  <a:schemeClr val="bg1"/>
                </a:solidFill>
              </a:rPr>
              <a:t>Supponete che un asteroide on un diametro di 40/50 Km è destinato ad entrare in atmosfera e ad impattare sulla Terra.</a:t>
            </a:r>
            <a:endParaRPr lang="it-IT" sz="1800" b="1" i="1" dirty="0">
              <a:solidFill>
                <a:schemeClr val="bg1"/>
              </a:solidFill>
            </a:endParaRPr>
          </a:p>
        </p:txBody>
      </p:sp>
      <p:sp>
        <p:nvSpPr>
          <p:cNvPr id="6" name="Segnaposto contenuto 2"/>
          <p:cNvSpPr txBox="1">
            <a:spLocks/>
          </p:cNvSpPr>
          <p:nvPr/>
        </p:nvSpPr>
        <p:spPr>
          <a:xfrm>
            <a:off x="139504" y="2461231"/>
            <a:ext cx="8750233" cy="434369"/>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lgn="ctr">
              <a:buNone/>
            </a:pPr>
            <a:r>
              <a:rPr lang="it-IT" b="1" i="1" dirty="0">
                <a:solidFill>
                  <a:schemeClr val="bg1"/>
                </a:solidFill>
              </a:rPr>
              <a:t>Avete a disposizione solo una settimana prima dell’incontro </a:t>
            </a:r>
            <a:endParaRPr lang="it-IT" sz="1800" b="1" i="1" dirty="0">
              <a:solidFill>
                <a:schemeClr val="bg1"/>
              </a:solidFill>
            </a:endParaRPr>
          </a:p>
        </p:txBody>
      </p:sp>
      <p:sp>
        <p:nvSpPr>
          <p:cNvPr id="10" name="Segnaposto contenuto 2"/>
          <p:cNvSpPr txBox="1">
            <a:spLocks/>
          </p:cNvSpPr>
          <p:nvPr/>
        </p:nvSpPr>
        <p:spPr>
          <a:xfrm>
            <a:off x="0" y="3660174"/>
            <a:ext cx="9144000" cy="665420"/>
          </a:xfrm>
          <a:prstGeom prst="rect">
            <a:avLst/>
          </a:prstGeom>
        </p:spPr>
        <p:txBody>
          <a:bodyPr vert="horz" lIns="91440" tIns="45720" rIns="91440" bIns="45720" rtlCol="0">
            <a:noAutofit/>
          </a:bodyPr>
          <a:lst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a:lstStyle>
          <a:p>
            <a:pPr marL="45720" indent="0" algn="ctr">
              <a:buNone/>
            </a:pPr>
            <a:r>
              <a:rPr lang="it-IT" sz="3200" b="1" i="1" dirty="0">
                <a:solidFill>
                  <a:srgbClr val="FF0000"/>
                </a:solidFill>
              </a:rPr>
              <a:t>Cosa fareste nel tempo rimasto?</a:t>
            </a:r>
            <a:endParaRPr lang="it-IT" sz="2800" b="1" i="1" dirty="0">
              <a:solidFill>
                <a:srgbClr val="FF0000"/>
              </a:solidFill>
            </a:endParaRPr>
          </a:p>
        </p:txBody>
      </p:sp>
      <p:sp>
        <p:nvSpPr>
          <p:cNvPr id="7" name="Titolo 1">
            <a:extLst>
              <a:ext uri="{FF2B5EF4-FFF2-40B4-BE49-F238E27FC236}">
                <a16:creationId xmlns:a16="http://schemas.microsoft.com/office/drawing/2014/main" id="{A8C50F0A-6C5B-44B1-B941-C464CF057FE6}"/>
              </a:ext>
            </a:extLst>
          </p:cNvPr>
          <p:cNvSpPr txBox="1">
            <a:spLocks/>
          </p:cNvSpPr>
          <p:nvPr/>
        </p:nvSpPr>
        <p:spPr>
          <a:xfrm>
            <a:off x="0" y="51340"/>
            <a:ext cx="9144000" cy="741455"/>
          </a:xfrm>
          <a:prstGeom prst="rect">
            <a:avLst/>
          </a:prstGeom>
        </p:spPr>
        <p:txBody>
          <a:bodyPr vert="horz" lIns="91440" tIns="45720" rIns="91440" bIns="45720" rtlCol="0" anchor="t">
            <a:norm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3200" b="1" dirty="0">
                <a:solidFill>
                  <a:srgbClr val="FFFF00"/>
                </a:solidFill>
              </a:rPr>
              <a:t>Domanda</a:t>
            </a:r>
            <a:endParaRPr lang="it-IT" dirty="0">
              <a:solidFill>
                <a:schemeClr val="tx1"/>
              </a:solidFill>
            </a:endParaRPr>
          </a:p>
        </p:txBody>
      </p:sp>
    </p:spTree>
    <p:extLst>
      <p:ext uri="{BB962C8B-B14F-4D97-AF65-F5344CB8AC3E}">
        <p14:creationId xmlns:p14="http://schemas.microsoft.com/office/powerpoint/2010/main" val="4202607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73</TotalTime>
  <Words>1244</Words>
  <Application>Microsoft Office PowerPoint</Application>
  <PresentationFormat>Presentazione su schermo (16:9)</PresentationFormat>
  <Paragraphs>217</Paragraphs>
  <Slides>32</Slides>
  <Notes>32</Notes>
  <HiddenSlides>0</HiddenSlides>
  <MMClips>1</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32</vt:i4>
      </vt:variant>
    </vt:vector>
  </HeadingPairs>
  <TitlesOfParts>
    <vt:vector size="38" baseType="lpstr">
      <vt:lpstr>Arial</vt:lpstr>
      <vt:lpstr>Calibri</vt:lpstr>
      <vt:lpstr>Century Gothic</vt:lpstr>
      <vt:lpstr>Wingdings</vt:lpstr>
      <vt:lpstr>Wingdings 3</vt:lpstr>
      <vt:lpstr>Ione</vt:lpstr>
      <vt:lpstr>Presentazione standard di PowerPoint</vt:lpstr>
      <vt:lpstr>NEO e dintorni</vt:lpstr>
      <vt:lpstr>Near Earth Object</vt:lpstr>
      <vt:lpstr>Near Earth Asteroid</vt:lpstr>
      <vt:lpstr>Presentazione standard di PowerPoint</vt:lpstr>
      <vt:lpstr>Fascia degli asteroidi</vt:lpstr>
      <vt:lpstr>Presentazione standard di PowerPoint</vt:lpstr>
      <vt:lpstr>Near Earth Comet</vt:lpstr>
      <vt:lpstr>Meteori, meteoriti …</vt:lpstr>
      <vt:lpstr>Sono frequenti?</vt:lpstr>
      <vt:lpstr>Impatti, depressioni</vt:lpstr>
      <vt:lpstr>Presentazione standard di PowerPoint</vt:lpstr>
      <vt:lpstr>Crateri</vt:lpstr>
      <vt:lpstr>Meteoriti</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Tutti a Torino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Luigi Fumagalli</dc:creator>
  <cp:lastModifiedBy>Luigi Fumagalli</cp:lastModifiedBy>
  <cp:revision>29</cp:revision>
  <dcterms:created xsi:type="dcterms:W3CDTF">2019-09-25T19:38:52Z</dcterms:created>
  <dcterms:modified xsi:type="dcterms:W3CDTF">2019-09-27T17:11:44Z</dcterms:modified>
</cp:coreProperties>
</file>